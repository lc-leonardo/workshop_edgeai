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9" name="Google Shape;189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" name="Google Shape;215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0" name="Google Shape;240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2" name="Google Shape;272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1" name="Google Shape;291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8" name="Google Shape;308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9" name="Google Shape;329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7" name="Google Shape;347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6" name="Google Shape;366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3" name="Google Shape;383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7" name="Google Shape;397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2" name="Google Shape;412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7" name="Google Shape;427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2" name="Google Shape;452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6" name="Google Shape;476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8" name="Google Shape;498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8" name="Google Shape;528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4" name="Google Shape;554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9" name="Google Shape;569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2" name="Google Shape;602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6" name="Google Shape;636;p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d9c99fa66b_0_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1" name="Google Shape;671;g3d9c99fa66b_0_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Close by asking the room which module they would adopt first, and what barrier (accounts, time, staffing, compute) is most acute.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https://access-ci.org/</a:t>
            </a: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672" name="Google Shape;672;g3d9c99fa66b_0_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9" name="Google Shape;689;p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db3ab69ea3_1_48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3db3ab69ea3_1_48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27.pn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14.png"/><Relationship Id="rId6" Type="http://schemas.openxmlformats.org/officeDocument/2006/relationships/image" Target="../media/image11.png"/><Relationship Id="rId7" Type="http://schemas.openxmlformats.org/officeDocument/2006/relationships/image" Target="../media/image30.png"/><Relationship Id="rId8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2.png"/><Relationship Id="rId8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image" Target="../media/image3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5.png"/><Relationship Id="rId6" Type="http://schemas.openxmlformats.org/officeDocument/2006/relationships/image" Target="../media/image8.png"/><Relationship Id="rId7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3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20.png"/><Relationship Id="rId5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3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3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26.png"/><Relationship Id="rId5" Type="http://schemas.openxmlformats.org/officeDocument/2006/relationships/image" Target="../media/image3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Relationship Id="rId4" Type="http://schemas.openxmlformats.org/officeDocument/2006/relationships/image" Target="../media/image29.png"/><Relationship Id="rId9" Type="http://schemas.openxmlformats.org/officeDocument/2006/relationships/image" Target="../media/image35.png"/><Relationship Id="rId5" Type="http://schemas.openxmlformats.org/officeDocument/2006/relationships/image" Target="../media/image38.png"/><Relationship Id="rId6" Type="http://schemas.openxmlformats.org/officeDocument/2006/relationships/image" Target="../media/image32.png"/><Relationship Id="rId7" Type="http://schemas.openxmlformats.org/officeDocument/2006/relationships/image" Target="../media/image43.png"/><Relationship Id="rId8" Type="http://schemas.openxmlformats.org/officeDocument/2006/relationships/image" Target="../media/image2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Relationship Id="rId4" Type="http://schemas.openxmlformats.org/officeDocument/2006/relationships/image" Target="../media/image4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Relationship Id="rId4" Type="http://schemas.openxmlformats.org/officeDocument/2006/relationships/image" Target="../media/image3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png"/><Relationship Id="rId4" Type="http://schemas.openxmlformats.org/officeDocument/2006/relationships/image" Target="../media/image39.png"/><Relationship Id="rId5" Type="http://schemas.openxmlformats.org/officeDocument/2006/relationships/image" Target="../media/image41.png"/><Relationship Id="rId6" Type="http://schemas.openxmlformats.org/officeDocument/2006/relationships/image" Target="../media/image40.png"/><Relationship Id="rId7" Type="http://schemas.openxmlformats.org/officeDocument/2006/relationships/image" Target="../media/image9.png"/><Relationship Id="rId8" Type="http://schemas.openxmlformats.org/officeDocument/2006/relationships/image" Target="../media/image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image" Target="../media/image3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.png"/><Relationship Id="rId4" Type="http://schemas.openxmlformats.org/officeDocument/2006/relationships/image" Target="../media/image4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3"/>
          <p:cNvSpPr/>
          <p:nvPr/>
        </p:nvSpPr>
        <p:spPr>
          <a:xfrm>
            <a:off x="731520" y="21945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93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8932E"/>
                </a:solidFill>
                <a:latin typeface="Calibri"/>
                <a:ea typeface="Calibri"/>
                <a:cs typeface="Calibri"/>
                <a:sym typeface="Calibri"/>
              </a:rPr>
              <a:t>MODULE 3.1   ·   EDGE AI WORKSHOP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731520" y="260604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Georgia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Efficient Inference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731520" y="352044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B05E"/>
              </a:buClr>
              <a:buSzPts val="5600"/>
              <a:buFont typeface="Georgia"/>
              <a:buNone/>
            </a:pPr>
            <a:r>
              <a:rPr b="0" i="1" lang="en-US" sz="5600" u="none" cap="none" strike="noStrike">
                <a:solidFill>
                  <a:srgbClr val="D4B05E"/>
                </a:solidFill>
                <a:latin typeface="Georgia"/>
                <a:ea typeface="Georgia"/>
                <a:cs typeface="Georgia"/>
                <a:sym typeface="Georgia"/>
              </a:rPr>
              <a:t>for Edge AI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731520" y="457200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D2C2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D8D2C2"/>
                </a:solidFill>
                <a:latin typeface="Calibri"/>
                <a:ea typeface="Calibri"/>
                <a:cs typeface="Calibri"/>
                <a:sym typeface="Calibri"/>
              </a:rPr>
              <a:t>Quantization · Pruning · Knowledge Distillation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731520" y="5074920"/>
            <a:ext cx="457200" cy="36576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731520" y="516636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9588"/>
              </a:buClr>
              <a:buSzPts val="1200"/>
              <a:buFont typeface="Calibri"/>
              <a:buNone/>
            </a:pPr>
            <a:r>
              <a:rPr b="0" i="1" lang="en-US" sz="1600" u="none" cap="none" strike="noStrike">
                <a:solidFill>
                  <a:srgbClr val="9C9588"/>
                </a:solidFill>
                <a:latin typeface="Calibri"/>
                <a:ea typeface="Calibri"/>
                <a:cs typeface="Calibri"/>
                <a:sym typeface="Calibri"/>
              </a:rPr>
              <a:t>MobileNetV2 · CIFAR-10 · PyTorch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ou_monogram_transparent.png" id="19" name="Google Shape;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89270" y="238525"/>
            <a:ext cx="502920" cy="484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3" title="QR pre-workshop knowledge check 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17567" y="4305825"/>
            <a:ext cx="1889760" cy="188976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/>
          <p:nvPr/>
        </p:nvSpPr>
        <p:spPr>
          <a:xfrm>
            <a:off x="8946500" y="6190475"/>
            <a:ext cx="263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EBC97F"/>
                </a:solidFill>
                <a:latin typeface="Calibri"/>
                <a:ea typeface="Calibri"/>
                <a:cs typeface="Calibri"/>
                <a:sym typeface="Calibri"/>
              </a:rPr>
              <a:t>Pre-workshop knowledge check</a:t>
            </a:r>
            <a:endParaRPr b="1">
              <a:solidFill>
                <a:srgbClr val="EBC9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" name="Google Shape;22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16870" y="140875"/>
            <a:ext cx="679925" cy="67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207315" y="357378"/>
            <a:ext cx="891960" cy="36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u_monogram_transparent.png" id="30" name="Google Shape;3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75720" y="228600"/>
            <a:ext cx="502920" cy="484632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/>
          <p:nvPr/>
        </p:nvSpPr>
        <p:spPr>
          <a:xfrm>
            <a:off x="365760" y="6565392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r>
              <a:rPr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     2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932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B8932E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48640" y="566928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What we'll cover today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640080" y="1783080"/>
            <a:ext cx="640080" cy="640080"/>
          </a:xfrm>
          <a:prstGeom prst="ellipse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640080" y="17830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1463040" y="17830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Why efficient inference matters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463040" y="2148840"/>
            <a:ext cx="8412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lang="en-US" sz="16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Edge constraints: compute, memory, power, latency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" name="Google Shape;39;p4"/>
          <p:cNvCxnSpPr/>
          <p:nvPr/>
        </p:nvCxnSpPr>
        <p:spPr>
          <a:xfrm>
            <a:off x="1463040" y="2523744"/>
            <a:ext cx="8412480" cy="0"/>
          </a:xfrm>
          <a:prstGeom prst="straightConnector1">
            <a:avLst/>
          </a:prstGeom>
          <a:noFill/>
          <a:ln cap="flat" cmpd="sng" w="9525">
            <a:solidFill>
              <a:srgbClr val="C8C5B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4"/>
          <p:cNvSpPr/>
          <p:nvPr/>
        </p:nvSpPr>
        <p:spPr>
          <a:xfrm>
            <a:off x="10332720" y="1856232"/>
            <a:ext cx="502920" cy="502920"/>
          </a:xfrm>
          <a:prstGeom prst="ellipse">
            <a:avLst/>
          </a:prstGeom>
          <a:solidFill>
            <a:srgbClr val="F8F7F3"/>
          </a:solidFill>
          <a:ln cap="flat" cmpd="sng" w="12700">
            <a:solidFill>
              <a:srgbClr val="D4B0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51592" y="1975104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/>
          <p:nvPr/>
        </p:nvSpPr>
        <p:spPr>
          <a:xfrm>
            <a:off x="640080" y="2651760"/>
            <a:ext cx="640080" cy="640080"/>
          </a:xfrm>
          <a:prstGeom prst="ellipse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640080" y="26517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463040" y="26517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Quantization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463040" y="3017520"/>
            <a:ext cx="8412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lang="en-US" sz="16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FP32 → INT8 mapping, PTQ vs QAT, calibration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" name="Google Shape;46;p4"/>
          <p:cNvCxnSpPr/>
          <p:nvPr/>
        </p:nvCxnSpPr>
        <p:spPr>
          <a:xfrm>
            <a:off x="1463040" y="3392424"/>
            <a:ext cx="8412480" cy="0"/>
          </a:xfrm>
          <a:prstGeom prst="straightConnector1">
            <a:avLst/>
          </a:prstGeom>
          <a:noFill/>
          <a:ln cap="flat" cmpd="sng" w="9525">
            <a:solidFill>
              <a:srgbClr val="C8C5B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" name="Google Shape;47;p4"/>
          <p:cNvSpPr/>
          <p:nvPr/>
        </p:nvSpPr>
        <p:spPr>
          <a:xfrm>
            <a:off x="10332720" y="2724912"/>
            <a:ext cx="502920" cy="502920"/>
          </a:xfrm>
          <a:prstGeom prst="ellipse">
            <a:avLst/>
          </a:prstGeom>
          <a:solidFill>
            <a:srgbClr val="F8F7F3"/>
          </a:solidFill>
          <a:ln cap="flat" cmpd="sng" w="12700">
            <a:solidFill>
              <a:srgbClr val="D4B0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" name="Google Shape;4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51592" y="2843784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4"/>
          <p:cNvSpPr/>
          <p:nvPr/>
        </p:nvSpPr>
        <p:spPr>
          <a:xfrm>
            <a:off x="640080" y="3520440"/>
            <a:ext cx="640080" cy="640080"/>
          </a:xfrm>
          <a:prstGeom prst="ellipse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640080" y="35204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1463040" y="35204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Pruning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463040" y="3886200"/>
            <a:ext cx="8412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lang="en-US" sz="16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Magnitude-based, structured vs unstructured, fine-tuning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" name="Google Shape;53;p4"/>
          <p:cNvCxnSpPr/>
          <p:nvPr/>
        </p:nvCxnSpPr>
        <p:spPr>
          <a:xfrm>
            <a:off x="1463040" y="4261104"/>
            <a:ext cx="8412480" cy="0"/>
          </a:xfrm>
          <a:prstGeom prst="straightConnector1">
            <a:avLst/>
          </a:prstGeom>
          <a:noFill/>
          <a:ln cap="flat" cmpd="sng" w="9525">
            <a:solidFill>
              <a:srgbClr val="C8C5B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p4"/>
          <p:cNvSpPr/>
          <p:nvPr/>
        </p:nvSpPr>
        <p:spPr>
          <a:xfrm>
            <a:off x="10332720" y="3593592"/>
            <a:ext cx="502920" cy="502920"/>
          </a:xfrm>
          <a:prstGeom prst="ellipse">
            <a:avLst/>
          </a:prstGeom>
          <a:solidFill>
            <a:srgbClr val="F8F7F3"/>
          </a:solidFill>
          <a:ln cap="flat" cmpd="sng" w="12700">
            <a:solidFill>
              <a:srgbClr val="D4B0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" name="Google Shape;55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51592" y="3712464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4"/>
          <p:cNvSpPr/>
          <p:nvPr/>
        </p:nvSpPr>
        <p:spPr>
          <a:xfrm>
            <a:off x="640080" y="4389120"/>
            <a:ext cx="640080" cy="640080"/>
          </a:xfrm>
          <a:prstGeom prst="ellipse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640080" y="43891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1463040" y="43891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Knowledge Distillation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1463040" y="4754880"/>
            <a:ext cx="8412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lang="en-US" sz="16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Teacher–student, soft targets, temperature, alpha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" name="Google Shape;60;p4"/>
          <p:cNvCxnSpPr/>
          <p:nvPr/>
        </p:nvCxnSpPr>
        <p:spPr>
          <a:xfrm>
            <a:off x="1463040" y="5129784"/>
            <a:ext cx="8412480" cy="0"/>
          </a:xfrm>
          <a:prstGeom prst="straightConnector1">
            <a:avLst/>
          </a:prstGeom>
          <a:noFill/>
          <a:ln cap="flat" cmpd="sng" w="9525">
            <a:solidFill>
              <a:srgbClr val="C8C5B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4"/>
          <p:cNvSpPr/>
          <p:nvPr/>
        </p:nvSpPr>
        <p:spPr>
          <a:xfrm>
            <a:off x="10332720" y="4462272"/>
            <a:ext cx="502920" cy="502920"/>
          </a:xfrm>
          <a:prstGeom prst="ellipse">
            <a:avLst/>
          </a:prstGeom>
          <a:solidFill>
            <a:srgbClr val="F8F7F3"/>
          </a:solidFill>
          <a:ln cap="flat" cmpd="sng" w="12700">
            <a:solidFill>
              <a:srgbClr val="D4B0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" name="Google Shape;62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51592" y="4581144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4"/>
          <p:cNvSpPr/>
          <p:nvPr/>
        </p:nvSpPr>
        <p:spPr>
          <a:xfrm>
            <a:off x="640080" y="5257800"/>
            <a:ext cx="640080" cy="640080"/>
          </a:xfrm>
          <a:prstGeom prst="ellipse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640080" y="52578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05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1463040" y="52578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Wrap-up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463040" y="5623560"/>
            <a:ext cx="8412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lang="en-US" sz="16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Comparing three techniques.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10332720" y="5330952"/>
            <a:ext cx="502920" cy="502920"/>
          </a:xfrm>
          <a:prstGeom prst="ellipse">
            <a:avLst/>
          </a:prstGeom>
          <a:solidFill>
            <a:srgbClr val="F8F7F3"/>
          </a:solidFill>
          <a:ln cap="flat" cmpd="sng" w="12700">
            <a:solidFill>
              <a:srgbClr val="D4B0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" name="Google Shape;68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51592" y="5449824"/>
            <a:ext cx="265176" cy="265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u_monogram_transparent.png"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75720" y="228600"/>
            <a:ext cx="502920" cy="484632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5"/>
          <p:cNvSpPr/>
          <p:nvPr/>
        </p:nvSpPr>
        <p:spPr>
          <a:xfrm>
            <a:off x="365760" y="6565392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PART 1 · MOTIVATION</a:t>
            </a:r>
            <a:r>
              <a:rPr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     3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932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B8932E"/>
                </a:solidFill>
                <a:latin typeface="Calibri"/>
                <a:ea typeface="Calibri"/>
                <a:cs typeface="Calibri"/>
                <a:sym typeface="Calibri"/>
              </a:rPr>
              <a:t>PART 1 · MOTIVATION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48640" y="566928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Why efficient inference?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548640" y="155448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Edge AI Constraints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640080" y="2057400"/>
            <a:ext cx="685800" cy="6858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" name="Google Shape;8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4672" y="222199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5"/>
          <p:cNvSpPr/>
          <p:nvPr/>
        </p:nvSpPr>
        <p:spPr>
          <a:xfrm>
            <a:off x="1554480" y="210312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Georgia"/>
              <a:buNone/>
            </a:pPr>
            <a:r>
              <a:rPr b="1" lang="en-US" sz="1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Limited compute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1554480" y="2423160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lang="en-US" sz="16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Mobile CPUs, small GPUs, NPUs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640080" y="3063240"/>
            <a:ext cx="685800" cy="6858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" name="Google Shape;8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4672" y="322783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5"/>
          <p:cNvSpPr/>
          <p:nvPr/>
        </p:nvSpPr>
        <p:spPr>
          <a:xfrm>
            <a:off x="1554480" y="310896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Georgia"/>
              <a:buNone/>
            </a:pPr>
            <a:r>
              <a:rPr b="1" lang="en-US" sz="1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Limited memory &amp; storage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1554480" y="3429000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lang="en-US" sz="16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Megabytes, not gigabytes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640080" y="4069080"/>
            <a:ext cx="685800" cy="6858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" name="Google Shape;90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4672" y="423367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5"/>
          <p:cNvSpPr/>
          <p:nvPr/>
        </p:nvSpPr>
        <p:spPr>
          <a:xfrm>
            <a:off x="1554480" y="411480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Georgia"/>
              <a:buNone/>
            </a:pPr>
            <a:r>
              <a:rPr b="1" lang="en-US" sz="1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Power &amp; battery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1554480" y="4434840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lang="en-US" sz="16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Energy budget per inference matters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640080" y="5074920"/>
            <a:ext cx="685800" cy="6858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" name="Google Shape;94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4672" y="523951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5"/>
          <p:cNvSpPr/>
          <p:nvPr/>
        </p:nvSpPr>
        <p:spPr>
          <a:xfrm>
            <a:off x="1554480" y="512064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Georgia"/>
              <a:buNone/>
            </a:pPr>
            <a:r>
              <a:rPr b="1" lang="en-US" sz="1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Real-time latency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1554480" y="5440680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lang="en-US" sz="16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Predictable, low-latency requirements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7" name="Google Shape;97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66560" y="1691640"/>
            <a:ext cx="493776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5"/>
          <p:cNvSpPr/>
          <p:nvPr/>
        </p:nvSpPr>
        <p:spPr>
          <a:xfrm>
            <a:off x="6766560" y="5440680"/>
            <a:ext cx="4937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Constraint envelope shapes every modeling decision on edge hardware.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u_monogram_transparent.png" id="105" name="Google Shape;10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75720" y="228600"/>
            <a:ext cx="502920" cy="484632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6"/>
          <p:cNvSpPr/>
          <p:nvPr/>
        </p:nvSpPr>
        <p:spPr>
          <a:xfrm>
            <a:off x="365760" y="6565392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PART 1 · MOTIVATION</a:t>
            </a:r>
            <a:r>
              <a:rPr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     4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932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B8932E"/>
                </a:solidFill>
                <a:latin typeface="Calibri"/>
                <a:ea typeface="Calibri"/>
                <a:cs typeface="Calibri"/>
                <a:sym typeface="Calibri"/>
              </a:rPr>
              <a:t>PART 1 · MOTIVATION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548640" y="566928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Baseline deep models don't fit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Typical CNN baseline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640080" y="2011680"/>
            <a:ext cx="5486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556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Millions of parameters in FP32 weights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High memory bandwidth and large activations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Higher latency per forward pass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Not ideal for on-device or embedded deployment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6766560" y="1691640"/>
            <a:ext cx="4937760" cy="1234440"/>
          </a:xfrm>
          <a:prstGeom prst="rect">
            <a:avLst/>
          </a:prstGeom>
          <a:solidFill>
            <a:srgbClr val="F8F7F3"/>
          </a:solidFill>
          <a:ln cap="flat" cmpd="sng" w="12700">
            <a:solidFill>
              <a:srgbClr val="D4B05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6766560" y="1691640"/>
            <a:ext cx="73152" cy="1234440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6995160" y="1801368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800"/>
              <a:buFont typeface="Georgia"/>
              <a:buNone/>
            </a:pPr>
            <a:r>
              <a:rPr b="1" lang="en-US" sz="3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~25 M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6995160" y="24688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i="1" lang="en-US" sz="16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parameters in a typical CNN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6766560" y="3108960"/>
            <a:ext cx="4937760" cy="1234440"/>
          </a:xfrm>
          <a:prstGeom prst="rect">
            <a:avLst/>
          </a:prstGeom>
          <a:solidFill>
            <a:srgbClr val="F8F7F3"/>
          </a:solidFill>
          <a:ln cap="flat" cmpd="sng" w="12700">
            <a:solidFill>
              <a:srgbClr val="D4B05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6766560" y="3108960"/>
            <a:ext cx="73152" cy="1234440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6995160" y="3218688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800"/>
              <a:buFont typeface="Georgia"/>
              <a:buNone/>
            </a:pPr>
            <a:r>
              <a:rPr b="1" lang="en-US" sz="3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~98 MB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6995160" y="38862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i="1" lang="en-US" sz="16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weight storage at FP32 (4 B/weight)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6766560" y="4526280"/>
            <a:ext cx="4937760" cy="1234440"/>
          </a:xfrm>
          <a:prstGeom prst="rect">
            <a:avLst/>
          </a:prstGeom>
          <a:solidFill>
            <a:srgbClr val="F8F7F3"/>
          </a:solidFill>
          <a:ln cap="flat" cmpd="sng" w="12700">
            <a:solidFill>
              <a:srgbClr val="D4B05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6766560" y="4526280"/>
            <a:ext cx="73152" cy="1234440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6995160" y="4636008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800"/>
              <a:buFont typeface="Georgia"/>
              <a:buNone/>
            </a:pPr>
            <a:r>
              <a:rPr b="1" lang="en-US" sz="3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10–100×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6995160" y="53035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i="1" lang="en-US" sz="16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more bandwidth than INT8 needs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u_monogram_transparent.png" id="130" name="Google Shape;13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75720" y="228600"/>
            <a:ext cx="502920" cy="484632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7"/>
          <p:cNvSpPr/>
          <p:nvPr/>
        </p:nvSpPr>
        <p:spPr>
          <a:xfrm>
            <a:off x="365760" y="6565392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PART 1 · MOTIVATION</a:t>
            </a:r>
            <a:r>
              <a:rPr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     5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932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B8932E"/>
                </a:solidFill>
                <a:latin typeface="Calibri"/>
                <a:ea typeface="Calibri"/>
                <a:cs typeface="Calibri"/>
                <a:sym typeface="Calibri"/>
              </a:rPr>
              <a:t>PART 1 · MOTIVATION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548640" y="566928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Why MobileNetV2 as our base?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594340" y="3861347"/>
            <a:ext cx="10972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556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Architecture designed for mobile / edge deployment</a:t>
            </a:r>
            <a:endParaRPr sz="1600"/>
          </a:p>
          <a:p>
            <a:pPr indent="-2540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Uses depthwise-separable convolutions for efficiency</a:t>
            </a:r>
            <a:endParaRPr sz="1600"/>
          </a:p>
          <a:p>
            <a:pPr indent="-2540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Strong accuracy–efficiency trade-off out of </a:t>
            </a: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</a:t>
            </a: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box</a:t>
            </a:r>
            <a:endParaRPr sz="1600"/>
          </a:p>
          <a:p>
            <a:pPr indent="-2540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Excellent base model to compress further (Q · P · KD</a:t>
            </a: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6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standard convolution cost: D</a:t>
            </a:r>
            <a:r>
              <a:rPr baseline="30000"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x M x N x H x W</a:t>
            </a:r>
            <a:endParaRPr sz="16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Depthwise-separabel cost: D</a:t>
            </a:r>
            <a:r>
              <a:rPr baseline="30000"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x M x H x W plus M x N x H x W</a:t>
            </a:r>
            <a:endParaRPr sz="16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5712594" y="6001396"/>
            <a:ext cx="5211111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Adapted from Howard et al., "MobileNets," arXiv:1704.04861 (2017); Sandler et al., "MobileNetV2," CVPR 2018.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7940" y="1636800"/>
            <a:ext cx="5913784" cy="3294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u_monogram_transparent.png" id="144" name="Google Shape;14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75720" y="228600"/>
            <a:ext cx="502920" cy="484632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8"/>
          <p:cNvSpPr/>
          <p:nvPr/>
        </p:nvSpPr>
        <p:spPr>
          <a:xfrm>
            <a:off x="365760" y="6565392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PART 1 · MOTIVATION</a:t>
            </a:r>
            <a:r>
              <a:rPr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     6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932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B8932E"/>
                </a:solidFill>
                <a:latin typeface="Calibri"/>
                <a:ea typeface="Calibri"/>
                <a:cs typeface="Calibri"/>
                <a:sym typeface="Calibri"/>
              </a:rPr>
              <a:t>PART 1 · MOTIVATION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548640" y="566928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Three axes of model optimization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548640" y="1828800"/>
            <a:ext cx="3611880" cy="4023360"/>
          </a:xfrm>
          <a:prstGeom prst="rect">
            <a:avLst/>
          </a:prstGeom>
          <a:solidFill>
            <a:srgbClr val="F8F7F3"/>
          </a:solidFill>
          <a:ln cap="flat" cmpd="sng" w="12700">
            <a:solidFill>
              <a:srgbClr val="D4B05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548640" y="1828800"/>
            <a:ext cx="3611880" cy="91440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1851660" y="2286000"/>
            <a:ext cx="1005840" cy="100584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2" name="Google Shape;15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61972" y="2496312"/>
            <a:ext cx="585216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8"/>
          <p:cNvSpPr/>
          <p:nvPr/>
        </p:nvSpPr>
        <p:spPr>
          <a:xfrm>
            <a:off x="731520" y="3520440"/>
            <a:ext cx="3246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Georgia"/>
              <a:buNone/>
            </a:pPr>
            <a:r>
              <a:rPr b="1" lang="en-US" sz="1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Quantization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731520" y="3977640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932E"/>
              </a:buClr>
              <a:buSzPts val="1200"/>
              <a:buFont typeface="Calibri"/>
              <a:buNone/>
            </a:pPr>
            <a:r>
              <a:rPr i="1" lang="en-US" sz="1600">
                <a:solidFill>
                  <a:srgbClr val="B8932E"/>
                </a:solidFill>
                <a:latin typeface="Calibri"/>
                <a:ea typeface="Calibri"/>
                <a:cs typeface="Calibri"/>
                <a:sym typeface="Calibri"/>
              </a:rPr>
              <a:t>Reduce numeric precision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914400" y="4434840"/>
            <a:ext cx="28803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lang="en-US" sz="16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Map FP32 weights &amp; activations to INT8 (or lower).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4389120" y="1828800"/>
            <a:ext cx="3611880" cy="4023360"/>
          </a:xfrm>
          <a:prstGeom prst="rect">
            <a:avLst/>
          </a:prstGeom>
          <a:solidFill>
            <a:srgbClr val="F8F7F3"/>
          </a:solidFill>
          <a:ln cap="flat" cmpd="sng" w="12700">
            <a:solidFill>
              <a:srgbClr val="D4B05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4389120" y="1828800"/>
            <a:ext cx="3611880" cy="91440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5692140" y="2286000"/>
            <a:ext cx="1005840" cy="100584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9" name="Google Shape;15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2452" y="2496312"/>
            <a:ext cx="585216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8"/>
          <p:cNvSpPr/>
          <p:nvPr/>
        </p:nvSpPr>
        <p:spPr>
          <a:xfrm>
            <a:off x="4572000" y="3520440"/>
            <a:ext cx="3246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Georgia"/>
              <a:buNone/>
            </a:pPr>
            <a:r>
              <a:rPr b="1" lang="en-US" sz="1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Pruning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4572000" y="3977640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932E"/>
              </a:buClr>
              <a:buSzPts val="1200"/>
              <a:buFont typeface="Calibri"/>
              <a:buNone/>
            </a:pPr>
            <a:r>
              <a:rPr i="1" lang="en-US" sz="1600">
                <a:solidFill>
                  <a:srgbClr val="B8932E"/>
                </a:solidFill>
                <a:latin typeface="Calibri"/>
                <a:ea typeface="Calibri"/>
                <a:cs typeface="Calibri"/>
                <a:sym typeface="Calibri"/>
              </a:rPr>
              <a:t>Remove unnecessary weights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4754880" y="4434840"/>
            <a:ext cx="28803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lang="en-US" sz="16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Zero out small-magnitude weights or whole channels.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8229600" y="1828800"/>
            <a:ext cx="3611880" cy="4023360"/>
          </a:xfrm>
          <a:prstGeom prst="rect">
            <a:avLst/>
          </a:prstGeom>
          <a:solidFill>
            <a:srgbClr val="F8F7F3"/>
          </a:solidFill>
          <a:ln cap="flat" cmpd="sng" w="12700">
            <a:solidFill>
              <a:srgbClr val="D4B05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8229600" y="1828800"/>
            <a:ext cx="3611880" cy="91440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9532620" y="2286000"/>
            <a:ext cx="1005840" cy="100584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6" name="Google Shape;166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42932" y="2496312"/>
            <a:ext cx="585216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8"/>
          <p:cNvSpPr/>
          <p:nvPr/>
        </p:nvSpPr>
        <p:spPr>
          <a:xfrm>
            <a:off x="8412480" y="3520440"/>
            <a:ext cx="3246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Georgia"/>
              <a:buNone/>
            </a:pPr>
            <a:r>
              <a:rPr b="1" lang="en-US" sz="1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Knowledge Distillation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8412480" y="3977640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932E"/>
              </a:buClr>
              <a:buSzPts val="1200"/>
              <a:buFont typeface="Calibri"/>
              <a:buNone/>
            </a:pPr>
            <a:r>
              <a:rPr i="1" lang="en-US" sz="1600">
                <a:solidFill>
                  <a:srgbClr val="B8932E"/>
                </a:solidFill>
                <a:latin typeface="Calibri"/>
                <a:ea typeface="Calibri"/>
                <a:cs typeface="Calibri"/>
                <a:sym typeface="Calibri"/>
              </a:rPr>
              <a:t>Train smaller models from larger ones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8595360" y="4434840"/>
            <a:ext cx="28803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lang="en-US" sz="16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Student mimics a teacher's soft probability targets.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548640" y="6080760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932E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B8932E"/>
                </a:solidFill>
                <a:latin typeface="Calibri"/>
                <a:ea typeface="Calibri"/>
                <a:cs typeface="Calibri"/>
                <a:sym typeface="Calibri"/>
              </a:rPr>
              <a:t>Combine in real deployments  →  Distill, then prune, then quantize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u_monogram_transparent.png" id="177" name="Google Shape;17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75720" y="228600"/>
            <a:ext cx="502920" cy="48463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9"/>
          <p:cNvSpPr/>
          <p:nvPr/>
        </p:nvSpPr>
        <p:spPr>
          <a:xfrm>
            <a:off x="365760" y="6565392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PART 2 · QUANTIZATION</a:t>
            </a:r>
            <a:r>
              <a:rPr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     7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932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B8932E"/>
                </a:solidFill>
                <a:latin typeface="Calibri"/>
                <a:ea typeface="Calibri"/>
                <a:cs typeface="Calibri"/>
                <a:sym typeface="Calibri"/>
              </a:rPr>
              <a:t>PART 2 · QUANTIZATION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548640" y="566928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What is quantization?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640080" y="1554480"/>
            <a:ext cx="56692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556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Map high-precision values (FP32) → low-precision (e.g., INT8)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Applies to both weights and activations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Represent continuous values using fewer bits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731518" y="4394770"/>
            <a:ext cx="5486400" cy="141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731518" y="4531930"/>
            <a:ext cx="5486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B05E"/>
              </a:buClr>
              <a:buSzPts val="2600"/>
              <a:buFont typeface="Consolas"/>
              <a:buNone/>
            </a:pPr>
            <a:r>
              <a:rPr b="1" lang="en-US" sz="2600">
                <a:solidFill>
                  <a:srgbClr val="D4B05E"/>
                </a:solidFill>
                <a:latin typeface="Consolas"/>
                <a:ea typeface="Consolas"/>
                <a:cs typeface="Consolas"/>
                <a:sym typeface="Consolas"/>
              </a:rPr>
              <a:t>q = round(x / s) + z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731518" y="512629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D2C2"/>
              </a:buClr>
              <a:buSzPts val="1200"/>
              <a:buFont typeface="Calibri"/>
              <a:buNone/>
            </a:pPr>
            <a:r>
              <a:rPr i="1" lang="en-US" sz="1600">
                <a:solidFill>
                  <a:srgbClr val="D8D2C2"/>
                </a:solidFill>
                <a:latin typeface="Calibri"/>
                <a:ea typeface="Calibri"/>
                <a:cs typeface="Calibri"/>
                <a:sym typeface="Calibri"/>
              </a:rPr>
              <a:t>scale s and zero-point z calibrate the mapping range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48684" y="1554476"/>
            <a:ext cx="5347067" cy="238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u_monogram_transparent.png" id="193" name="Google Shape;1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75720" y="228600"/>
            <a:ext cx="502920" cy="484632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0"/>
          <p:cNvSpPr/>
          <p:nvPr/>
        </p:nvSpPr>
        <p:spPr>
          <a:xfrm>
            <a:off x="365760" y="6565392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PART 2 · QUANTIZATION</a:t>
            </a:r>
            <a:r>
              <a:rPr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     8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932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B8932E"/>
                </a:solidFill>
                <a:latin typeface="Calibri"/>
                <a:ea typeface="Calibri"/>
                <a:cs typeface="Calibri"/>
                <a:sym typeface="Calibri"/>
              </a:rPr>
              <a:t>PART 2 · QUANTIZATION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548640" y="566928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Why quantize?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640080" y="1554480"/>
            <a:ext cx="685800" cy="685800"/>
          </a:xfrm>
          <a:prstGeom prst="ellipse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9" name="Google Shape;19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4672" y="171907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0"/>
          <p:cNvSpPr/>
          <p:nvPr/>
        </p:nvSpPr>
        <p:spPr>
          <a:xfrm>
            <a:off x="1554480" y="16002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Smaller models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1554480" y="1965960"/>
            <a:ext cx="4572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lang="en-US" sz="16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FP32 (4 B) → INT8 (1 B), roughly 4× smaller weights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640080" y="3017520"/>
            <a:ext cx="685800" cy="685800"/>
          </a:xfrm>
          <a:prstGeom prst="ellipse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3" name="Google Shape;203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4672" y="318211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0"/>
          <p:cNvSpPr/>
          <p:nvPr/>
        </p:nvSpPr>
        <p:spPr>
          <a:xfrm>
            <a:off x="1554480" y="30632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Faster inference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1554480" y="3429000"/>
            <a:ext cx="4572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lang="en-US" sz="16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Less memory bandwidth, </a:t>
            </a:r>
            <a:r>
              <a:rPr lang="en-US" sz="16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integer</a:t>
            </a:r>
            <a:r>
              <a:rPr lang="en-US" sz="16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 ops on accelerators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640080" y="4480560"/>
            <a:ext cx="685800" cy="685800"/>
          </a:xfrm>
          <a:prstGeom prst="ellipse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7" name="Google Shape;207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4672" y="464515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0"/>
          <p:cNvSpPr/>
          <p:nvPr/>
        </p:nvSpPr>
        <p:spPr>
          <a:xfrm>
            <a:off x="1554480" y="45262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Lower energy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1554480" y="4892040"/>
            <a:ext cx="4572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lang="en-US" sz="16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Less data movement, fewer joules per inference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Google Shape;210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75120" y="1645920"/>
            <a:ext cx="5029200" cy="402336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0"/>
          <p:cNvSpPr/>
          <p:nvPr/>
        </p:nvSpPr>
        <p:spPr>
          <a:xfrm>
            <a:off x="6675120" y="576072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Indicative; actual gain depends on layer types and hardware support.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6355080" y="1394422"/>
            <a:ext cx="4572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lang="en-US" sz="16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Params /M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u_monogram_transparent.png" id="219" name="Google Shape;21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75720" y="228600"/>
            <a:ext cx="502920" cy="484632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1"/>
          <p:cNvSpPr/>
          <p:nvPr/>
        </p:nvSpPr>
        <p:spPr>
          <a:xfrm>
            <a:off x="365760" y="6565392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PART 2 · QUANTIZATION</a:t>
            </a:r>
            <a:r>
              <a:rPr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     9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932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B8932E"/>
                </a:solidFill>
                <a:latin typeface="Calibri"/>
                <a:ea typeface="Calibri"/>
                <a:cs typeface="Calibri"/>
                <a:sym typeface="Calibri"/>
              </a:rPr>
              <a:t>PART 2 · QUANTIZATION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548640" y="566928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Types of quantization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"/>
          <p:cNvSpPr/>
          <p:nvPr/>
        </p:nvSpPr>
        <p:spPr>
          <a:xfrm>
            <a:off x="548640" y="1691640"/>
            <a:ext cx="5486400" cy="3749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C5B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1"/>
          <p:cNvSpPr/>
          <p:nvPr/>
        </p:nvSpPr>
        <p:spPr>
          <a:xfrm>
            <a:off x="548640" y="1691640"/>
            <a:ext cx="5486400" cy="548640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"/>
          <p:cNvSpPr/>
          <p:nvPr/>
        </p:nvSpPr>
        <p:spPr>
          <a:xfrm>
            <a:off x="822960" y="178308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Post-Training Quantization (PTQ)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790960" y="2288565"/>
            <a:ext cx="493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932E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B8932E"/>
                </a:solidFill>
                <a:latin typeface="Calibri"/>
                <a:ea typeface="Calibri"/>
                <a:cs typeface="Calibri"/>
                <a:sym typeface="Calibri"/>
              </a:rPr>
              <a:t>Quantize a pretrained model — no retraining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876498" y="3426594"/>
            <a:ext cx="484632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619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Apply after training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Needs calibration data for activation ranges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Fast and convenient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May lose accuracy on sensitive layers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6172200" y="1691640"/>
            <a:ext cx="5486400" cy="3749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C5B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1"/>
          <p:cNvSpPr/>
          <p:nvPr/>
        </p:nvSpPr>
        <p:spPr>
          <a:xfrm>
            <a:off x="6172200" y="1691640"/>
            <a:ext cx="5486400" cy="5486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1"/>
          <p:cNvSpPr/>
          <p:nvPr/>
        </p:nvSpPr>
        <p:spPr>
          <a:xfrm>
            <a:off x="6446520" y="178308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Quantization-Aware Training (</a:t>
            </a:r>
            <a:r>
              <a:rPr b="1"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QAT</a:t>
            </a:r>
            <a:r>
              <a:rPr b="1"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6446520" y="2377440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Simulate quantization during training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6492240" y="3493008"/>
            <a:ext cx="484632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619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Inserts fake-quant nodes in the graph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Model learns to be robust to INT8 noise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Usually best accuracy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More training cost &amp; infrastructure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548640" y="5623560"/>
            <a:ext cx="11109960" cy="594360"/>
          </a:xfrm>
          <a:prstGeom prst="rect">
            <a:avLst/>
          </a:prstGeom>
          <a:solidFill>
            <a:srgbClr val="F8F7F3"/>
          </a:solidFill>
          <a:ln cap="flat" cmpd="sng" w="9525">
            <a:solidFill>
              <a:srgbClr val="D4B0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731520" y="5650992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932E"/>
              </a:buClr>
              <a:buSzPts val="1200"/>
              <a:buFont typeface="Calibri"/>
              <a:buNone/>
            </a:pPr>
            <a:r>
              <a:rPr b="1" lang="en-US" sz="1600">
                <a:solidFill>
                  <a:srgbClr val="B8932E"/>
                </a:solidFill>
                <a:latin typeface="Calibri"/>
                <a:ea typeface="Calibri"/>
                <a:cs typeface="Calibri"/>
                <a:sym typeface="Calibri"/>
              </a:rPr>
              <a:t>Granularity:  </a:t>
            </a: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Per-tensor (one scale for the whole tensor)  vs  Per-channel (a scale per output channel — finer control, common for conv weights)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74576" y="2715225"/>
            <a:ext cx="3989675" cy="1390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75510" y="2587751"/>
            <a:ext cx="3368664" cy="1471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u_monogram_transparent.png" id="244" name="Google Shape;24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75720" y="228600"/>
            <a:ext cx="502920" cy="484632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2"/>
          <p:cNvSpPr/>
          <p:nvPr/>
        </p:nvSpPr>
        <p:spPr>
          <a:xfrm>
            <a:off x="365760" y="6565392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PART 2 · QUANTIZATION</a:t>
            </a:r>
            <a:r>
              <a:rPr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     12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932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B8932E"/>
                </a:solidFill>
                <a:latin typeface="Calibri"/>
                <a:ea typeface="Calibri"/>
                <a:cs typeface="Calibri"/>
                <a:sym typeface="Calibri"/>
              </a:rPr>
              <a:t>PART 2 · QUANTIZATION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2"/>
          <p:cNvSpPr/>
          <p:nvPr/>
        </p:nvSpPr>
        <p:spPr>
          <a:xfrm>
            <a:off x="548640" y="566928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Trade-offs &amp; pitfalls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2"/>
          <p:cNvSpPr/>
          <p:nvPr/>
        </p:nvSpPr>
        <p:spPr>
          <a:xfrm>
            <a:off x="548640" y="1691640"/>
            <a:ext cx="548640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C5B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2"/>
          <p:cNvSpPr/>
          <p:nvPr/>
        </p:nvSpPr>
        <p:spPr>
          <a:xfrm>
            <a:off x="822960" y="2057400"/>
            <a:ext cx="640080" cy="640080"/>
          </a:xfrm>
          <a:prstGeom prst="ellipse">
            <a:avLst/>
          </a:prstGeom>
          <a:solidFill>
            <a:srgbClr val="F8E5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1" name="Google Shape;25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1832" y="217627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2"/>
          <p:cNvSpPr/>
          <p:nvPr/>
        </p:nvSpPr>
        <p:spPr>
          <a:xfrm>
            <a:off x="1645920" y="201168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Georgia"/>
              <a:buNone/>
            </a:pPr>
            <a:r>
              <a:rPr b="1" lang="en-US" sz="1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Sensitive layers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1645920" y="2423160"/>
            <a:ext cx="42976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lang="en-US" sz="16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First and last layers are often the most fragile — sometimes left in higher precision.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6172200" y="1691640"/>
            <a:ext cx="548640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C5B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2"/>
          <p:cNvSpPr/>
          <p:nvPr/>
        </p:nvSpPr>
        <p:spPr>
          <a:xfrm>
            <a:off x="6446520" y="2057400"/>
            <a:ext cx="640080" cy="640080"/>
          </a:xfrm>
          <a:prstGeom prst="ellipse">
            <a:avLst/>
          </a:prstGeom>
          <a:solidFill>
            <a:srgbClr val="F8E5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6" name="Google Shape;25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65392" y="217627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2"/>
          <p:cNvSpPr/>
          <p:nvPr/>
        </p:nvSpPr>
        <p:spPr>
          <a:xfrm>
            <a:off x="7269480" y="201168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Georgia"/>
              <a:buNone/>
            </a:pPr>
            <a:r>
              <a:rPr b="1" lang="en-US" sz="1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Activation outliers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7269480" y="2423160"/>
            <a:ext cx="42976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lang="en-US" sz="16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Long-tail values cause saturation and precision loss; calibration matters.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548640" y="3886200"/>
            <a:ext cx="548640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C5B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2"/>
          <p:cNvSpPr/>
          <p:nvPr/>
        </p:nvSpPr>
        <p:spPr>
          <a:xfrm>
            <a:off x="822960" y="4251960"/>
            <a:ext cx="640080" cy="640080"/>
          </a:xfrm>
          <a:prstGeom prst="ellipse">
            <a:avLst/>
          </a:prstGeom>
          <a:solidFill>
            <a:srgbClr val="F8E5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1" name="Google Shape;26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1832" y="437083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2"/>
          <p:cNvSpPr/>
          <p:nvPr/>
        </p:nvSpPr>
        <p:spPr>
          <a:xfrm>
            <a:off x="1645920" y="420624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Georgia"/>
              <a:buNone/>
            </a:pPr>
            <a:r>
              <a:rPr b="1" lang="en-US" sz="1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Hardware dependence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1645920" y="4617720"/>
            <a:ext cx="42976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lang="en-US" sz="15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Real speedups require INT8-capable hardware (NPU, AVX-VNNI, ARM NEON).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6172200" y="3886200"/>
            <a:ext cx="548640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C5B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2"/>
          <p:cNvSpPr/>
          <p:nvPr/>
        </p:nvSpPr>
        <p:spPr>
          <a:xfrm>
            <a:off x="6446520" y="4251960"/>
            <a:ext cx="640080" cy="640080"/>
          </a:xfrm>
          <a:prstGeom prst="ellipse">
            <a:avLst/>
          </a:prstGeom>
          <a:solidFill>
            <a:srgbClr val="F8E5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6" name="Google Shape;26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65392" y="437083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2"/>
          <p:cNvSpPr/>
          <p:nvPr/>
        </p:nvSpPr>
        <p:spPr>
          <a:xfrm>
            <a:off x="7269480" y="420624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Georgia"/>
              <a:buNone/>
            </a:pPr>
            <a:r>
              <a:rPr b="1" lang="en-US" sz="1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Acceptable accuracy drop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7269480" y="4617720"/>
            <a:ext cx="42976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lang="en-US" sz="16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Tolerance is application-specific — 0.1 % matters for some tasks, not others.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548640" y="6126480"/>
            <a:ext cx="11109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932E"/>
              </a:buClr>
              <a:buSzPts val="1200"/>
              <a:buFont typeface="Calibri"/>
              <a:buNone/>
            </a:pPr>
            <a:r>
              <a:rPr i="1" lang="en-US" sz="1600">
                <a:solidFill>
                  <a:srgbClr val="B8932E"/>
                </a:solidFill>
                <a:latin typeface="Calibri"/>
                <a:ea typeface="Calibri"/>
                <a:cs typeface="Calibri"/>
                <a:sym typeface="Calibri"/>
              </a:rPr>
              <a:t>Always benchmark on the actual target device — speedup is not always model-size reduction.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u_monogram_transparent.png" id="276" name="Google Shape;27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75720" y="228600"/>
            <a:ext cx="502920" cy="484632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3"/>
          <p:cNvSpPr/>
          <p:nvPr/>
        </p:nvSpPr>
        <p:spPr>
          <a:xfrm>
            <a:off x="365760" y="6565392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PART 2 · QUANTIZATION</a:t>
            </a:r>
            <a:r>
              <a:rPr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     13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932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B8932E"/>
                </a:solidFill>
                <a:latin typeface="Calibri"/>
                <a:ea typeface="Calibri"/>
                <a:cs typeface="Calibri"/>
                <a:sym typeface="Calibri"/>
              </a:rPr>
              <a:t>PART 2 · QUANTIZATION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548640" y="566928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Notebook 1 highlights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3"/>
          <p:cNvSpPr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Georgia"/>
              <a:buNone/>
            </a:pPr>
            <a:r>
              <a:rPr b="1" lang="en-US" sz="1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What you'll do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640080" y="1965960"/>
            <a:ext cx="54864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619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Load and adapt MobileNetV2 to CIFAR-10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Run baseline (FP32) evaluation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Apply PTQ using PyTorch APIs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Compare accuracy, size, inference time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Visualize weight distributions pre/post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Build summary table of trade-offs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5515875" y="3794125"/>
            <a:ext cx="5257800" cy="2469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3"/>
          <p:cNvSpPr/>
          <p:nvPr/>
        </p:nvSpPr>
        <p:spPr>
          <a:xfrm>
            <a:off x="5561470" y="3885570"/>
            <a:ext cx="5394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B05E"/>
              </a:buClr>
              <a:buSzPts val="1600"/>
              <a:buFont typeface="Georgia"/>
              <a:buNone/>
            </a:pPr>
            <a:r>
              <a:rPr b="1" lang="en-US" sz="1800">
                <a:solidFill>
                  <a:srgbClr val="D4B05E"/>
                </a:solidFill>
                <a:latin typeface="Georgia"/>
                <a:ea typeface="Georgia"/>
                <a:cs typeface="Georgia"/>
                <a:sym typeface="Georgia"/>
              </a:rPr>
              <a:t>Metrics we report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5607070" y="4342770"/>
            <a:ext cx="5212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C8C5BC"/>
              </a:buClr>
              <a:buSzPts val="1200"/>
              <a:buFont typeface="Calibri"/>
              <a:buNone/>
            </a:pPr>
            <a:r>
              <a:rPr lang="en-US" sz="1600">
                <a:solidFill>
                  <a:srgbClr val="C8C5BC"/>
                </a:solidFill>
                <a:latin typeface="Calibri"/>
                <a:ea typeface="Calibri"/>
                <a:cs typeface="Calibri"/>
                <a:sym typeface="Calibri"/>
              </a:rPr>
              <a:t>  before / after quantization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size (MB)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C8C5BC"/>
              </a:buClr>
              <a:buSzPts val="1200"/>
              <a:buFont typeface="Calibri"/>
              <a:buNone/>
            </a:pPr>
            <a:r>
              <a:rPr lang="en-US" sz="1600">
                <a:solidFill>
                  <a:srgbClr val="C8C5BC"/>
                </a:solidFill>
                <a:latin typeface="Calibri"/>
                <a:ea typeface="Calibri"/>
                <a:cs typeface="Calibri"/>
                <a:sym typeface="Calibri"/>
              </a:rPr>
              <a:t>  weight footprint on disk / memory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Inference time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C8C5BC"/>
              </a:buClr>
              <a:buSzPts val="1200"/>
              <a:buFont typeface="Calibri"/>
              <a:buNone/>
            </a:pPr>
            <a:r>
              <a:rPr lang="en-US" sz="1600">
                <a:solidFill>
                  <a:srgbClr val="C8C5BC"/>
                </a:solidFill>
                <a:latin typeface="Calibri"/>
                <a:ea typeface="Calibri"/>
                <a:cs typeface="Calibri"/>
                <a:sym typeface="Calibri"/>
              </a:rPr>
              <a:t>  per image and per batch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5561465" y="1103955"/>
            <a:ext cx="5212200" cy="2469000"/>
          </a:xfrm>
          <a:prstGeom prst="rect">
            <a:avLst/>
          </a:prstGeom>
          <a:solidFill>
            <a:srgbClr val="F8F7F3"/>
          </a:solidFill>
          <a:ln cap="flat" cmpd="sng" w="12700">
            <a:solidFill>
              <a:srgbClr val="D4B0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3"/>
          <p:cNvSpPr/>
          <p:nvPr/>
        </p:nvSpPr>
        <p:spPr>
          <a:xfrm>
            <a:off x="5790065" y="1195395"/>
            <a:ext cx="4937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Georgia"/>
              <a:buNone/>
            </a:pPr>
            <a:r>
              <a:rPr b="1" lang="en-US" sz="1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Setup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5790065" y="1606875"/>
            <a:ext cx="4846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Model: MobileNetV2 adapted for CIFAR-10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First conv adjusted for 32×32 input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Classifier head: 1000 → 10 classes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Approach: Post-Training Quantization in PyTorch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u_monogram_transparent.png" id="295" name="Google Shape;2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75720" y="228600"/>
            <a:ext cx="502920" cy="484632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4"/>
          <p:cNvSpPr/>
          <p:nvPr/>
        </p:nvSpPr>
        <p:spPr>
          <a:xfrm>
            <a:off x="365760" y="6565392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PART 3 · PRUNING</a:t>
            </a:r>
            <a:r>
              <a:rPr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     14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4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932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B8932E"/>
                </a:solidFill>
                <a:latin typeface="Calibri"/>
                <a:ea typeface="Calibri"/>
                <a:cs typeface="Calibri"/>
                <a:sym typeface="Calibri"/>
              </a:rPr>
              <a:t>PART 3 · PRUNING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4"/>
          <p:cNvSpPr/>
          <p:nvPr/>
        </p:nvSpPr>
        <p:spPr>
          <a:xfrm>
            <a:off x="548640" y="56692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What is pruning?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4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4"/>
          <p:cNvSpPr/>
          <p:nvPr/>
        </p:nvSpPr>
        <p:spPr>
          <a:xfrm>
            <a:off x="640076" y="1554475"/>
            <a:ext cx="4959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556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Remove weights or structures from a trained network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Goal: increase sparsity, reduce computation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Many weights are close to zero — their contribution is small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Zero them out → smaller, sparser model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4"/>
          <p:cNvSpPr/>
          <p:nvPr/>
        </p:nvSpPr>
        <p:spPr>
          <a:xfrm>
            <a:off x="548640" y="5074920"/>
            <a:ext cx="5440680" cy="10972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4"/>
          <p:cNvSpPr/>
          <p:nvPr/>
        </p:nvSpPr>
        <p:spPr>
          <a:xfrm>
            <a:off x="777240" y="516636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932E"/>
              </a:buClr>
              <a:buSzPts val="1300"/>
              <a:buFont typeface="Calibri"/>
              <a:buNone/>
            </a:pPr>
            <a:r>
              <a:rPr b="1" lang="en-US" sz="1800">
                <a:solidFill>
                  <a:srgbClr val="B8932E"/>
                </a:solidFill>
                <a:latin typeface="Calibri"/>
                <a:ea typeface="Calibri"/>
                <a:cs typeface="Calibri"/>
                <a:sym typeface="Calibri"/>
              </a:rPr>
              <a:t>Sparsity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4"/>
          <p:cNvSpPr/>
          <p:nvPr/>
        </p:nvSpPr>
        <p:spPr>
          <a:xfrm>
            <a:off x="777240" y="544068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i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fraction of zeros in weight tensors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4"/>
          <p:cNvSpPr/>
          <p:nvPr/>
        </p:nvSpPr>
        <p:spPr>
          <a:xfrm>
            <a:off x="777240" y="576072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5BC"/>
              </a:buClr>
              <a:buSzPts val="1100"/>
              <a:buFont typeface="Calibri"/>
              <a:buNone/>
            </a:pPr>
            <a:r>
              <a:rPr lang="en-US" sz="1600">
                <a:solidFill>
                  <a:srgbClr val="C8C5BC"/>
                </a:solidFill>
                <a:latin typeface="Calibri"/>
                <a:ea typeface="Calibri"/>
                <a:cs typeface="Calibri"/>
                <a:sym typeface="Calibri"/>
              </a:rPr>
              <a:t>higher sparsity  →  fewer multiplies, smaller storage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5" name="Google Shape;30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02375" y="1430542"/>
            <a:ext cx="5989325" cy="33660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u_monogram_transparent.png" id="312" name="Google Shape;3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75720" y="228600"/>
            <a:ext cx="502920" cy="484632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5"/>
          <p:cNvSpPr/>
          <p:nvPr/>
        </p:nvSpPr>
        <p:spPr>
          <a:xfrm>
            <a:off x="365760" y="6565392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PART 3 · PRUNING</a:t>
            </a:r>
            <a:r>
              <a:rPr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     15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5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932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B8932E"/>
                </a:solidFill>
                <a:latin typeface="Calibri"/>
                <a:ea typeface="Calibri"/>
                <a:cs typeface="Calibri"/>
                <a:sym typeface="Calibri"/>
              </a:rPr>
              <a:t>PART 3 · PRUNING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5"/>
          <p:cNvSpPr/>
          <p:nvPr/>
        </p:nvSpPr>
        <p:spPr>
          <a:xfrm>
            <a:off x="548640" y="566928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Types of pruning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5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7" name="Google Shape;3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50" y="1344175"/>
            <a:ext cx="11643348" cy="3730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5"/>
          <p:cNvSpPr/>
          <p:nvPr/>
        </p:nvSpPr>
        <p:spPr>
          <a:xfrm>
            <a:off x="548640" y="5074920"/>
            <a:ext cx="5486400" cy="1143000"/>
          </a:xfrm>
          <a:prstGeom prst="rect">
            <a:avLst/>
          </a:prstGeom>
          <a:solidFill>
            <a:srgbClr val="F8F7F3"/>
          </a:solidFill>
          <a:ln cap="flat" cmpd="sng" w="12700">
            <a:solidFill>
              <a:srgbClr val="D4B0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5"/>
          <p:cNvSpPr/>
          <p:nvPr/>
        </p:nvSpPr>
        <p:spPr>
          <a:xfrm>
            <a:off x="548640" y="5074920"/>
            <a:ext cx="73152" cy="1143000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5"/>
          <p:cNvSpPr/>
          <p:nvPr/>
        </p:nvSpPr>
        <p:spPr>
          <a:xfrm>
            <a:off x="777240" y="516636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Georgia"/>
              <a:buNone/>
            </a:pPr>
            <a:r>
              <a:rPr b="1" lang="en-US" sz="1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Unstructured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5"/>
          <p:cNvSpPr/>
          <p:nvPr/>
        </p:nvSpPr>
        <p:spPr>
          <a:xfrm>
            <a:off x="777240" y="5532120"/>
            <a:ext cx="5120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lang="en-US" sz="16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Remove individual weights by magnitude. Arbitrary sparsity pattern. Hardware speedups depend on sparse kernels.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5"/>
          <p:cNvSpPr/>
          <p:nvPr/>
        </p:nvSpPr>
        <p:spPr>
          <a:xfrm>
            <a:off x="6172200" y="5074920"/>
            <a:ext cx="5486400" cy="1143000"/>
          </a:xfrm>
          <a:prstGeom prst="rect">
            <a:avLst/>
          </a:prstGeom>
          <a:solidFill>
            <a:srgbClr val="F8F7F3"/>
          </a:solidFill>
          <a:ln cap="flat" cmpd="sng" w="12700">
            <a:solidFill>
              <a:srgbClr val="D4B0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5"/>
          <p:cNvSpPr/>
          <p:nvPr/>
        </p:nvSpPr>
        <p:spPr>
          <a:xfrm>
            <a:off x="6172200" y="5074920"/>
            <a:ext cx="73152" cy="1143000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5"/>
          <p:cNvSpPr/>
          <p:nvPr/>
        </p:nvSpPr>
        <p:spPr>
          <a:xfrm>
            <a:off x="6400800" y="516636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Georgia"/>
              <a:buNone/>
            </a:pPr>
            <a:r>
              <a:rPr b="1" lang="en-US" sz="1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Structured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5"/>
          <p:cNvSpPr/>
          <p:nvPr/>
        </p:nvSpPr>
        <p:spPr>
          <a:xfrm>
            <a:off x="6400800" y="5532120"/>
            <a:ext cx="5120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lang="en-US" sz="16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Remove channels, filters, or whole blocks. Smaller dense matrices — easy to accelerate on standard hardware.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5"/>
          <p:cNvSpPr/>
          <p:nvPr/>
        </p:nvSpPr>
        <p:spPr>
          <a:xfrm>
            <a:off x="548640" y="6355080"/>
            <a:ext cx="11155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932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B8932E"/>
                </a:solidFill>
                <a:latin typeface="Calibri"/>
                <a:ea typeface="Calibri"/>
                <a:cs typeface="Calibri"/>
                <a:sym typeface="Calibri"/>
              </a:rPr>
              <a:t>Global vs layer-wise:  </a:t>
            </a:r>
            <a:r>
              <a:rPr i="1"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global uses one threshold across the whole model; layer-wise picks a threshold per layer.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6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u_monogram_transparent.png" id="333" name="Google Shape;33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75720" y="228600"/>
            <a:ext cx="502920" cy="484632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6"/>
          <p:cNvSpPr/>
          <p:nvPr/>
        </p:nvSpPr>
        <p:spPr>
          <a:xfrm>
            <a:off x="365760" y="6565392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PART 3 · PRUNING</a:t>
            </a:r>
            <a:r>
              <a:rPr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     16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6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932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B8932E"/>
                </a:solidFill>
                <a:latin typeface="Calibri"/>
                <a:ea typeface="Calibri"/>
                <a:cs typeface="Calibri"/>
                <a:sym typeface="Calibri"/>
              </a:rPr>
              <a:t>PART 3 · PRUNING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6"/>
          <p:cNvSpPr/>
          <p:nvPr/>
        </p:nvSpPr>
        <p:spPr>
          <a:xfrm>
            <a:off x="548640" y="566928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Magnitude-based pruning (our focus)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6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6"/>
          <p:cNvSpPr/>
          <p:nvPr/>
        </p:nvSpPr>
        <p:spPr>
          <a:xfrm>
            <a:off x="640076" y="1901000"/>
            <a:ext cx="42639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556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Rank weights by absolute value |w|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Zero out the smallest fraction (e.g., 30 / 50 / 70 / 90 %)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Very simple and widely used heuristic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Works especially well on over-parameterized networks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6"/>
          <p:cNvSpPr/>
          <p:nvPr/>
        </p:nvSpPr>
        <p:spPr>
          <a:xfrm>
            <a:off x="548640" y="5212080"/>
            <a:ext cx="11109960" cy="960120"/>
          </a:xfrm>
          <a:prstGeom prst="rect">
            <a:avLst/>
          </a:prstGeom>
          <a:solidFill>
            <a:srgbClr val="F8F7F3"/>
          </a:solidFill>
          <a:ln cap="flat" cmpd="sng" w="9525">
            <a:solidFill>
              <a:srgbClr val="D4B0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6"/>
          <p:cNvSpPr/>
          <p:nvPr/>
        </p:nvSpPr>
        <p:spPr>
          <a:xfrm>
            <a:off x="777240" y="5440680"/>
            <a:ext cx="502920" cy="502920"/>
          </a:xfrm>
          <a:prstGeom prst="ellipse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1" name="Google Shape;34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6968" y="5532120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6"/>
          <p:cNvSpPr/>
          <p:nvPr/>
        </p:nvSpPr>
        <p:spPr>
          <a:xfrm>
            <a:off x="1417320" y="5349240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Magnitude pruning was popularized for deep nets by Han et al., "Learning both Weights and Connections," NeurIPS 2015.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6"/>
          <p:cNvSpPr/>
          <p:nvPr/>
        </p:nvSpPr>
        <p:spPr>
          <a:xfrm>
            <a:off x="1417320" y="576072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Reference: arXiv:1506.02626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4" name="Google Shape;3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46900" y="1817490"/>
            <a:ext cx="6976118" cy="2452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7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u_monogram_transparent.png" id="351" name="Google Shape;35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75720" y="228600"/>
            <a:ext cx="502920" cy="484632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7"/>
          <p:cNvSpPr/>
          <p:nvPr/>
        </p:nvSpPr>
        <p:spPr>
          <a:xfrm>
            <a:off x="365760" y="6565392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PART 3 · PRUNING</a:t>
            </a:r>
            <a:r>
              <a:rPr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     17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7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932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B8932E"/>
                </a:solidFill>
                <a:latin typeface="Calibri"/>
                <a:ea typeface="Calibri"/>
                <a:cs typeface="Calibri"/>
                <a:sym typeface="Calibri"/>
              </a:rPr>
              <a:t>PART 3 · PRUNING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7"/>
          <p:cNvSpPr/>
          <p:nvPr/>
        </p:nvSpPr>
        <p:spPr>
          <a:xfrm>
            <a:off x="548640" y="566928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Pruning in this workshop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7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6" name="Google Shape;35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1554480"/>
            <a:ext cx="11109960" cy="141732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17"/>
          <p:cNvSpPr/>
          <p:nvPr/>
        </p:nvSpPr>
        <p:spPr>
          <a:xfrm>
            <a:off x="548640" y="3246120"/>
            <a:ext cx="5394960" cy="2926080"/>
          </a:xfrm>
          <a:prstGeom prst="rect">
            <a:avLst/>
          </a:prstGeom>
          <a:solidFill>
            <a:srgbClr val="F8F7F3"/>
          </a:solidFill>
          <a:ln cap="flat" cmpd="sng" w="12700">
            <a:solidFill>
              <a:srgbClr val="D4B0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7"/>
          <p:cNvSpPr/>
          <p:nvPr/>
        </p:nvSpPr>
        <p:spPr>
          <a:xfrm>
            <a:off x="548640" y="3246120"/>
            <a:ext cx="73152" cy="2926080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7"/>
          <p:cNvSpPr/>
          <p:nvPr/>
        </p:nvSpPr>
        <p:spPr>
          <a:xfrm>
            <a:off x="777240" y="33375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Georgia"/>
              <a:buNone/>
            </a:pPr>
            <a:r>
              <a:rPr b="1" lang="en-US" sz="1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What we apply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7"/>
          <p:cNvSpPr/>
          <p:nvPr/>
        </p:nvSpPr>
        <p:spPr>
          <a:xfrm>
            <a:off x="777240" y="3749040"/>
            <a:ext cx="507492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Start from a trained model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Choose pruning ratios: 30, 50, 70, 90 %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Apply global magnitude-based pruning to Conv / Linear layers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Evaluate accuracy after pruning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Optionally fine-tune to recover accuracy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7"/>
          <p:cNvSpPr/>
          <p:nvPr/>
        </p:nvSpPr>
        <p:spPr>
          <a:xfrm>
            <a:off x="6263640" y="3246120"/>
            <a:ext cx="5394960" cy="2926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7"/>
          <p:cNvSpPr/>
          <p:nvPr/>
        </p:nvSpPr>
        <p:spPr>
          <a:xfrm>
            <a:off x="6492240" y="33375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B05E"/>
              </a:buClr>
              <a:buSzPts val="1600"/>
              <a:buFont typeface="Georgia"/>
              <a:buNone/>
            </a:pPr>
            <a:r>
              <a:rPr b="1" lang="en-US" sz="1800">
                <a:solidFill>
                  <a:srgbClr val="D4B05E"/>
                </a:solidFill>
                <a:latin typeface="Georgia"/>
                <a:ea typeface="Georgia"/>
                <a:cs typeface="Georgia"/>
                <a:sym typeface="Georgia"/>
              </a:rPr>
              <a:t>Metrics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7"/>
          <p:cNvSpPr/>
          <p:nvPr/>
        </p:nvSpPr>
        <p:spPr>
          <a:xfrm>
            <a:off x="6492240" y="3749040"/>
            <a:ext cx="50292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Parameters / sparsity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C8C5BC"/>
              </a:buClr>
              <a:buSzPts val="1100"/>
              <a:buFont typeface="Calibri"/>
              <a:buNone/>
            </a:pPr>
            <a:r>
              <a:rPr lang="en-US" sz="1600">
                <a:solidFill>
                  <a:srgbClr val="C8C5BC"/>
                </a:solidFill>
                <a:latin typeface="Calibri"/>
                <a:ea typeface="Calibri"/>
                <a:cs typeface="Calibri"/>
                <a:sym typeface="Calibri"/>
              </a:rPr>
              <a:t>  fraction of zeros after pruning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Accuracy vs sparsity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C8C5BC"/>
              </a:buClr>
              <a:buSzPts val="1100"/>
              <a:buFont typeface="Calibri"/>
              <a:buNone/>
            </a:pPr>
            <a:r>
              <a:rPr lang="en-US" sz="1600">
                <a:solidFill>
                  <a:srgbClr val="C8C5BC"/>
                </a:solidFill>
                <a:latin typeface="Calibri"/>
                <a:ea typeface="Calibri"/>
                <a:cs typeface="Calibri"/>
                <a:sym typeface="Calibri"/>
              </a:rPr>
              <a:t>  curve across the four ratios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Inference time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C8C5BC"/>
              </a:buClr>
              <a:buSzPts val="1100"/>
              <a:buFont typeface="Calibri"/>
              <a:buNone/>
            </a:pPr>
            <a:r>
              <a:rPr lang="en-US" sz="1600">
                <a:solidFill>
                  <a:srgbClr val="C8C5BC"/>
                </a:solidFill>
                <a:latin typeface="Calibri"/>
                <a:ea typeface="Calibri"/>
                <a:cs typeface="Calibri"/>
                <a:sym typeface="Calibri"/>
              </a:rPr>
              <a:t>  if measured on the target device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8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u_monogram_transparent.png" id="370" name="Google Shape;37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75720" y="228600"/>
            <a:ext cx="502920" cy="484632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18"/>
          <p:cNvSpPr/>
          <p:nvPr/>
        </p:nvSpPr>
        <p:spPr>
          <a:xfrm>
            <a:off x="365760" y="6565392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PART 3 · PRUNING</a:t>
            </a:r>
            <a:r>
              <a:rPr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     18/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8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932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B8932E"/>
                </a:solidFill>
                <a:latin typeface="Calibri"/>
                <a:ea typeface="Calibri"/>
                <a:cs typeface="Calibri"/>
                <a:sym typeface="Calibri"/>
              </a:rPr>
              <a:t>PART 3 · PRUNING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8"/>
          <p:cNvSpPr/>
          <p:nvPr/>
        </p:nvSpPr>
        <p:spPr>
          <a:xfrm>
            <a:off x="548640" y="566928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Fine-tuning after </a:t>
            </a:r>
            <a:r>
              <a:rPr b="1" lang="en-US" sz="3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pruning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8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8"/>
          <p:cNvSpPr/>
          <p:nvPr/>
        </p:nvSpPr>
        <p:spPr>
          <a:xfrm>
            <a:off x="548640" y="15544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Georgia"/>
              <a:buNone/>
            </a:pPr>
            <a:r>
              <a:rPr b="1" lang="en-US" sz="1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Why fine-tune?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8"/>
          <p:cNvSpPr/>
          <p:nvPr/>
        </p:nvSpPr>
        <p:spPr>
          <a:xfrm>
            <a:off x="640080" y="1965960"/>
            <a:ext cx="109728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619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Pruning modifies the network's effective structure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Remaining weights need to adapt to fill the gap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 few extra epochs typically recover most of the lost accuracy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7" name="Google Shape;37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3749040"/>
            <a:ext cx="11109960" cy="141732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18"/>
          <p:cNvSpPr/>
          <p:nvPr/>
        </p:nvSpPr>
        <p:spPr>
          <a:xfrm>
            <a:off x="548640" y="5349240"/>
            <a:ext cx="11109960" cy="1005840"/>
          </a:xfrm>
          <a:prstGeom prst="rect">
            <a:avLst/>
          </a:prstGeom>
          <a:solidFill>
            <a:srgbClr val="F8F7F3"/>
          </a:solidFill>
          <a:ln cap="flat" cmpd="sng" w="9525">
            <a:solidFill>
              <a:srgbClr val="D4B0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8"/>
          <p:cNvSpPr/>
          <p:nvPr/>
        </p:nvSpPr>
        <p:spPr>
          <a:xfrm>
            <a:off x="777240" y="544068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932E"/>
              </a:buClr>
              <a:buSzPts val="1300"/>
              <a:buFont typeface="Calibri"/>
              <a:buNone/>
            </a:pPr>
            <a:r>
              <a:rPr b="1" lang="en-US" sz="1800">
                <a:solidFill>
                  <a:srgbClr val="B8932E"/>
                </a:solidFill>
                <a:latin typeface="Calibri"/>
                <a:ea typeface="Calibri"/>
                <a:cs typeface="Calibri"/>
                <a:sym typeface="Calibri"/>
              </a:rPr>
              <a:t>Expected pattern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8"/>
          <p:cNvSpPr/>
          <p:nvPr/>
        </p:nvSpPr>
        <p:spPr>
          <a:xfrm>
            <a:off x="777240" y="57607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Moderate pruning (30–50 %): </a:t>
            </a:r>
            <a:r>
              <a:rPr lang="en-US" sz="16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small accuracy drop, easily recovered</a:t>
            </a:r>
            <a:r>
              <a:rPr lang="en-US" sz="1600">
                <a:solidFill>
                  <a:srgbClr val="B8932E"/>
                </a:solidFill>
                <a:latin typeface="Calibri"/>
                <a:ea typeface="Calibri"/>
                <a:cs typeface="Calibri"/>
                <a:sym typeface="Calibri"/>
              </a:rPr>
              <a:t>    ·    </a:t>
            </a:r>
            <a:r>
              <a:rPr b="1"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Aggressive pruning (70–90 %): </a:t>
            </a:r>
            <a:r>
              <a:rPr lang="en-US" sz="16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bigger drop, instability risk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9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u_monogram_transparent.png" id="387" name="Google Shape;38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75720" y="228600"/>
            <a:ext cx="502920" cy="484632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19"/>
          <p:cNvSpPr/>
          <p:nvPr/>
        </p:nvSpPr>
        <p:spPr>
          <a:xfrm>
            <a:off x="365760" y="6565392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PART 3 · PRUNING</a:t>
            </a:r>
            <a:r>
              <a:rPr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     19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9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932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B8932E"/>
                </a:solidFill>
                <a:latin typeface="Calibri"/>
                <a:ea typeface="Calibri"/>
                <a:cs typeface="Calibri"/>
                <a:sym typeface="Calibri"/>
              </a:rPr>
              <a:t>PART 3 · PRUNING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9"/>
          <p:cNvSpPr/>
          <p:nvPr/>
        </p:nvSpPr>
        <p:spPr>
          <a:xfrm>
            <a:off x="548640" y="566928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Pruning — visualization &amp; analysis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9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9"/>
          <p:cNvSpPr/>
          <p:nvPr/>
        </p:nvSpPr>
        <p:spPr>
          <a:xfrm>
            <a:off x="7680960" y="1344180"/>
            <a:ext cx="4023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Georgia"/>
              <a:buNone/>
            </a:pPr>
            <a:r>
              <a:rPr b="1" lang="en-US" sz="1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Things to look for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9"/>
          <p:cNvSpPr/>
          <p:nvPr/>
        </p:nvSpPr>
        <p:spPr>
          <a:xfrm>
            <a:off x="7467148" y="995210"/>
            <a:ext cx="40233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Layer-wise sparsity — which layers got pruned more?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Where does accuracy collapse?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Early vs late layers: which is more sensitive?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Effect of fine-tuning vs raw pruning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4" name="Google Shape;39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61" y="1965962"/>
            <a:ext cx="6918489" cy="357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u_monogram_transparent.png" id="401" name="Google Shape;40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75720" y="228600"/>
            <a:ext cx="502920" cy="484632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0"/>
          <p:cNvSpPr/>
          <p:nvPr/>
        </p:nvSpPr>
        <p:spPr>
          <a:xfrm>
            <a:off x="365760" y="6565392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PART 3 · PRUNING</a:t>
            </a:r>
            <a:r>
              <a:rPr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     20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0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932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B8932E"/>
                </a:solidFill>
                <a:latin typeface="Calibri"/>
                <a:ea typeface="Calibri"/>
                <a:cs typeface="Calibri"/>
                <a:sym typeface="Calibri"/>
              </a:rPr>
              <a:t>PART 3 · PRUNING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0"/>
          <p:cNvSpPr/>
          <p:nvPr/>
        </p:nvSpPr>
        <p:spPr>
          <a:xfrm>
            <a:off x="548640" y="566928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Notebook 2 highlights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0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0"/>
          <p:cNvSpPr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Georgia"/>
              <a:buNone/>
            </a:pPr>
            <a:r>
              <a:rPr b="1" lang="en-US" sz="1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What you'll do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0"/>
          <p:cNvSpPr/>
          <p:nvPr/>
        </p:nvSpPr>
        <p:spPr>
          <a:xfrm>
            <a:off x="614330" y="1325885"/>
            <a:ext cx="5486400" cy="38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619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Use PyTorch torch.nn.utils.prune utilities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Apply global magnitude-based pruning to MobileNetV2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Try multiple sparsity ratios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Optionally remove pruning reparameterization to save true sparse weights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Evaluate accuracy, sparsity, and (optionally) inference time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8" name="Google Shape;40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0" y="1691640"/>
            <a:ext cx="5212080" cy="402336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20"/>
          <p:cNvSpPr/>
          <p:nvPr/>
        </p:nvSpPr>
        <p:spPr>
          <a:xfrm>
            <a:off x="6400800" y="5852160"/>
            <a:ext cx="5212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Effective parameter count assumes magnitude pruning on a ~3.5M MobileNetV2-CIFAR variant.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u_monogram_transparent.png" id="416" name="Google Shape;41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75720" y="228600"/>
            <a:ext cx="502920" cy="484632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1"/>
          <p:cNvSpPr/>
          <p:nvPr/>
        </p:nvSpPr>
        <p:spPr>
          <a:xfrm>
            <a:off x="365760" y="6565392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PART 4 · KNOWLEDGE DISTILLATION</a:t>
            </a:r>
            <a:r>
              <a:rPr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     21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1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932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B8932E"/>
                </a:solidFill>
                <a:latin typeface="Calibri"/>
                <a:ea typeface="Calibri"/>
                <a:cs typeface="Calibri"/>
                <a:sym typeface="Calibri"/>
              </a:rPr>
              <a:t>PART 4 · KNOWLEDGE DISTILLATION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1"/>
          <p:cNvSpPr/>
          <p:nvPr/>
        </p:nvSpPr>
        <p:spPr>
          <a:xfrm>
            <a:off x="548640" y="566928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What is knowledge distillation?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1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1"/>
          <p:cNvSpPr/>
          <p:nvPr/>
        </p:nvSpPr>
        <p:spPr>
          <a:xfrm>
            <a:off x="640080" y="1554480"/>
            <a:ext cx="109728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556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Train a small student model to imitate a large teacher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Teacher provides rich, soft probability distributions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Student learns from soft targets, not only hard labels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Goal: near-teacher performance at much lower complexity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1"/>
          <p:cNvSpPr/>
          <p:nvPr/>
        </p:nvSpPr>
        <p:spPr>
          <a:xfrm>
            <a:off x="548640" y="5989320"/>
            <a:ext cx="11109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Adapted from Hinton, Vinyals, Dean, "Distilling the Knowledge in a Neural Network," NeurIPS Workshop 2014.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nowledge Distillation - Neural Network Distiller" id="423" name="Google Shape;42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53379" y="3054404"/>
            <a:ext cx="6707606" cy="3032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13801" y="1065850"/>
            <a:ext cx="4327050" cy="191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u_monogram_transparent.png" id="431" name="Google Shape;43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75720" y="228600"/>
            <a:ext cx="502920" cy="484632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22"/>
          <p:cNvSpPr/>
          <p:nvPr/>
        </p:nvSpPr>
        <p:spPr>
          <a:xfrm>
            <a:off x="365760" y="6565392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PART 4 · KNOWLEDGE DISTILLATION</a:t>
            </a:r>
            <a:r>
              <a:rPr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     22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2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932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B8932E"/>
                </a:solidFill>
                <a:latin typeface="Calibri"/>
                <a:ea typeface="Calibri"/>
                <a:cs typeface="Calibri"/>
                <a:sym typeface="Calibri"/>
              </a:rPr>
              <a:t>PART 4 · KNOWLEDGE DISTILLATION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2"/>
          <p:cNvSpPr/>
          <p:nvPr/>
        </p:nvSpPr>
        <p:spPr>
          <a:xfrm>
            <a:off x="548640" y="566928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Teacher–student setup in this workshop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2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2"/>
          <p:cNvSpPr/>
          <p:nvPr/>
        </p:nvSpPr>
        <p:spPr>
          <a:xfrm>
            <a:off x="548640" y="1691640"/>
            <a:ext cx="5486400" cy="3840480"/>
          </a:xfrm>
          <a:prstGeom prst="rect">
            <a:avLst/>
          </a:prstGeom>
          <a:solidFill>
            <a:srgbClr val="1A1A1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2"/>
          <p:cNvSpPr/>
          <p:nvPr/>
        </p:nvSpPr>
        <p:spPr>
          <a:xfrm>
            <a:off x="914400" y="19202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Teacher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2"/>
          <p:cNvSpPr/>
          <p:nvPr/>
        </p:nvSpPr>
        <p:spPr>
          <a:xfrm>
            <a:off x="914400" y="2404872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B05E"/>
              </a:buClr>
              <a:buSzPts val="1300"/>
              <a:buFont typeface="Calibri"/>
              <a:buNone/>
            </a:pPr>
            <a:r>
              <a:rPr i="1" lang="en-US" sz="1800">
                <a:solidFill>
                  <a:srgbClr val="D4B05E"/>
                </a:solidFill>
                <a:latin typeface="Calibri"/>
                <a:ea typeface="Calibri"/>
                <a:cs typeface="Calibri"/>
                <a:sym typeface="Calibri"/>
              </a:rPr>
              <a:t>Enhanced MobileNetV2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2"/>
          <p:cNvSpPr/>
          <p:nvPr/>
        </p:nvSpPr>
        <p:spPr>
          <a:xfrm>
            <a:off x="914400" y="2880360"/>
            <a:ext cx="4754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Georgia"/>
              <a:buNone/>
            </a:pPr>
            <a:r>
              <a:rPr b="1" lang="en-US" sz="5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~4.2 M</a:t>
            </a:r>
            <a:endParaRPr sz="5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2"/>
          <p:cNvSpPr/>
          <p:nvPr/>
        </p:nvSpPr>
        <p:spPr>
          <a:xfrm>
            <a:off x="914400" y="3749040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5BC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C8C5BC"/>
                </a:solidFill>
                <a:latin typeface="Calibri"/>
                <a:ea typeface="Calibri"/>
                <a:cs typeface="Calibri"/>
                <a:sym typeface="Calibri"/>
              </a:rPr>
              <a:t>parameters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2"/>
          <p:cNvSpPr/>
          <p:nvPr/>
        </p:nvSpPr>
        <p:spPr>
          <a:xfrm>
            <a:off x="1005840" y="4206240"/>
            <a:ext cx="4663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8C5BC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C8C5BC"/>
                </a:solidFill>
                <a:latin typeface="Calibri"/>
                <a:ea typeface="Calibri"/>
                <a:cs typeface="Calibri"/>
                <a:sym typeface="Calibri"/>
              </a:rPr>
              <a:t>Extra classifier capacity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C8C5BC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C8C5BC"/>
                </a:solidFill>
                <a:latin typeface="Calibri"/>
                <a:ea typeface="Calibri"/>
                <a:cs typeface="Calibri"/>
                <a:sym typeface="Calibri"/>
              </a:rPr>
              <a:t>Higher accuracy on CIFAR-10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C8C5BC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C8C5BC"/>
                </a:solidFill>
                <a:latin typeface="Calibri"/>
                <a:ea typeface="Calibri"/>
                <a:cs typeface="Calibri"/>
                <a:sym typeface="Calibri"/>
              </a:rPr>
              <a:t>Frozen during distillation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2"/>
          <p:cNvSpPr/>
          <p:nvPr/>
        </p:nvSpPr>
        <p:spPr>
          <a:xfrm>
            <a:off x="6172200" y="1691640"/>
            <a:ext cx="5486400" cy="3840480"/>
          </a:xfrm>
          <a:prstGeom prst="rect">
            <a:avLst/>
          </a:prstGeom>
          <a:solidFill>
            <a:srgbClr val="B8932E"/>
          </a:solidFill>
          <a:ln>
            <a:noFill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2"/>
          <p:cNvSpPr/>
          <p:nvPr/>
        </p:nvSpPr>
        <p:spPr>
          <a:xfrm>
            <a:off x="6537960" y="19202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Student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2"/>
          <p:cNvSpPr/>
          <p:nvPr/>
        </p:nvSpPr>
        <p:spPr>
          <a:xfrm>
            <a:off x="6537960" y="2404872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i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Compact MobileNetV2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2"/>
          <p:cNvSpPr/>
          <p:nvPr/>
        </p:nvSpPr>
        <p:spPr>
          <a:xfrm>
            <a:off x="6537960" y="2880360"/>
            <a:ext cx="4754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Georgia"/>
              <a:buNone/>
            </a:pPr>
            <a:r>
              <a:rPr b="1" lang="en-US" sz="5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~1.8 M</a:t>
            </a:r>
            <a:endParaRPr sz="5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2"/>
          <p:cNvSpPr/>
          <p:nvPr/>
        </p:nvSpPr>
        <p:spPr>
          <a:xfrm>
            <a:off x="6537960" y="3749040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4BC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F1E4BC"/>
                </a:solidFill>
                <a:latin typeface="Calibri"/>
                <a:ea typeface="Calibri"/>
                <a:cs typeface="Calibri"/>
                <a:sym typeface="Calibri"/>
              </a:rPr>
              <a:t>parameters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2"/>
          <p:cNvSpPr/>
          <p:nvPr/>
        </p:nvSpPr>
        <p:spPr>
          <a:xfrm>
            <a:off x="6629400" y="4206240"/>
            <a:ext cx="4663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1E4BC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F1E4BC"/>
                </a:solidFill>
                <a:latin typeface="Calibri"/>
                <a:ea typeface="Calibri"/>
                <a:cs typeface="Calibri"/>
                <a:sym typeface="Calibri"/>
              </a:rPr>
              <a:t>Fewer feature layers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1E4BC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F1E4BC"/>
                </a:solidFill>
                <a:latin typeface="Calibri"/>
                <a:ea typeface="Calibri"/>
                <a:cs typeface="Calibri"/>
                <a:sym typeface="Calibri"/>
              </a:rPr>
              <a:t>Designed for edge deployment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1E4BC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F1E4BC"/>
                </a:solidFill>
                <a:latin typeface="Calibri"/>
                <a:ea typeface="Calibri"/>
                <a:cs typeface="Calibri"/>
                <a:sym typeface="Calibri"/>
              </a:rPr>
              <a:t>Trained with combined loss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2"/>
          <p:cNvSpPr/>
          <p:nvPr/>
        </p:nvSpPr>
        <p:spPr>
          <a:xfrm>
            <a:off x="548640" y="5669280"/>
            <a:ext cx="11109960" cy="548640"/>
          </a:xfrm>
          <a:prstGeom prst="rect">
            <a:avLst/>
          </a:prstGeom>
          <a:solidFill>
            <a:srgbClr val="F8F7F3"/>
          </a:solidFill>
          <a:ln cap="flat" cmpd="sng" w="9525">
            <a:solidFill>
              <a:srgbClr val="D4B0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2"/>
          <p:cNvSpPr/>
          <p:nvPr/>
        </p:nvSpPr>
        <p:spPr>
          <a:xfrm>
            <a:off x="777240" y="5687568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932E"/>
              </a:buClr>
              <a:buSzPts val="1300"/>
              <a:buFont typeface="Calibri"/>
              <a:buNone/>
            </a:pPr>
            <a:r>
              <a:rPr b="1" lang="en-US" sz="1600">
                <a:solidFill>
                  <a:srgbClr val="B8932E"/>
                </a:solidFill>
                <a:latin typeface="Calibri"/>
                <a:ea typeface="Calibri"/>
                <a:cs typeface="Calibri"/>
                <a:sym typeface="Calibri"/>
              </a:rPr>
              <a:t>Dataset:  </a:t>
            </a: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CIFAR-10  </a:t>
            </a:r>
            <a:r>
              <a:rPr lang="en-US" sz="1600">
                <a:solidFill>
                  <a:srgbClr val="B8932E"/>
                </a:solidFill>
                <a:latin typeface="Calibri"/>
                <a:ea typeface="Calibri"/>
                <a:cs typeface="Calibri"/>
                <a:sym typeface="Calibri"/>
              </a:rPr>
              <a:t>·  </a:t>
            </a:r>
            <a:r>
              <a:rPr b="1" lang="en-US" sz="1600">
                <a:solidFill>
                  <a:srgbClr val="B8932E"/>
                </a:solidFill>
                <a:latin typeface="Calibri"/>
                <a:ea typeface="Calibri"/>
                <a:cs typeface="Calibri"/>
                <a:sym typeface="Calibri"/>
              </a:rPr>
              <a:t>Compression ratio:  </a:t>
            </a: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~2.3× smaller student vs teacher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u_monogram_transparent.png" id="456" name="Google Shape;45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75720" y="228600"/>
            <a:ext cx="502920" cy="484632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23"/>
          <p:cNvSpPr/>
          <p:nvPr/>
        </p:nvSpPr>
        <p:spPr>
          <a:xfrm>
            <a:off x="365760" y="6565392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PART 4 · KNOWLEDGE DISTILLATION</a:t>
            </a:r>
            <a:r>
              <a:rPr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     23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3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932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B8932E"/>
                </a:solidFill>
                <a:latin typeface="Calibri"/>
                <a:ea typeface="Calibri"/>
                <a:cs typeface="Calibri"/>
                <a:sym typeface="Calibri"/>
              </a:rPr>
              <a:t>PART 4 · KNOWLEDGE DISTILLATION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3"/>
          <p:cNvSpPr/>
          <p:nvPr/>
        </p:nvSpPr>
        <p:spPr>
          <a:xfrm>
            <a:off x="548640" y="566928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Distillation mechanics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3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3"/>
          <p:cNvSpPr/>
          <p:nvPr/>
        </p:nvSpPr>
        <p:spPr>
          <a:xfrm>
            <a:off x="449632" y="1590942"/>
            <a:ext cx="5394900" cy="42063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3"/>
          <p:cNvSpPr/>
          <p:nvPr/>
        </p:nvSpPr>
        <p:spPr>
          <a:xfrm>
            <a:off x="777240" y="16916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B05E"/>
              </a:buClr>
              <a:buSzPts val="1600"/>
              <a:buFont typeface="Georgia"/>
              <a:buNone/>
            </a:pPr>
            <a:r>
              <a:rPr b="1" lang="en-US" sz="1800">
                <a:solidFill>
                  <a:srgbClr val="D4B05E"/>
                </a:solidFill>
                <a:latin typeface="Georgia"/>
                <a:ea typeface="Georgia"/>
                <a:cs typeface="Georgia"/>
                <a:sym typeface="Georgia"/>
              </a:rPr>
              <a:t>Loss formulation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3"/>
          <p:cNvSpPr/>
          <p:nvPr/>
        </p:nvSpPr>
        <p:spPr>
          <a:xfrm>
            <a:off x="777240" y="2194560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5BC"/>
              </a:buClr>
              <a:buSzPts val="1200"/>
              <a:buFont typeface="Calibri"/>
              <a:buNone/>
            </a:pPr>
            <a:r>
              <a:rPr i="1" lang="en-US" sz="1600">
                <a:solidFill>
                  <a:srgbClr val="C8C5BC"/>
                </a:solidFill>
                <a:latin typeface="Calibri"/>
                <a:ea typeface="Calibri"/>
                <a:cs typeface="Calibri"/>
                <a:sym typeface="Calibri"/>
              </a:rPr>
              <a:t>Soft targets (with temperature T):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4" name="Google Shape;464;p23"/>
          <p:cNvCxnSpPr/>
          <p:nvPr/>
        </p:nvCxnSpPr>
        <p:spPr>
          <a:xfrm>
            <a:off x="777240" y="3383280"/>
            <a:ext cx="4937760" cy="0"/>
          </a:xfrm>
          <a:prstGeom prst="straightConnector1">
            <a:avLst/>
          </a:prstGeom>
          <a:noFill/>
          <a:ln cap="flat" cmpd="sng" w="9525">
            <a:solidFill>
              <a:srgbClr val="8B6E1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5" name="Google Shape;465;p23"/>
          <p:cNvSpPr/>
          <p:nvPr/>
        </p:nvSpPr>
        <p:spPr>
          <a:xfrm>
            <a:off x="777240" y="3520440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5BC"/>
              </a:buClr>
              <a:buSzPts val="1200"/>
              <a:buFont typeface="Calibri"/>
              <a:buNone/>
            </a:pPr>
            <a:r>
              <a:rPr i="1" lang="en-US" sz="1600">
                <a:solidFill>
                  <a:srgbClr val="C8C5BC"/>
                </a:solidFill>
                <a:latin typeface="Calibri"/>
                <a:ea typeface="Calibri"/>
                <a:cs typeface="Calibri"/>
                <a:sym typeface="Calibri"/>
              </a:rPr>
              <a:t>Combined loss: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3"/>
          <p:cNvSpPr/>
          <p:nvPr/>
        </p:nvSpPr>
        <p:spPr>
          <a:xfrm>
            <a:off x="777240" y="521208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5BC"/>
              </a:buClr>
              <a:buSzPts val="1100"/>
              <a:buFont typeface="Calibri"/>
              <a:buNone/>
            </a:pPr>
            <a:r>
              <a:rPr i="1" lang="en-US" sz="1600">
                <a:solidFill>
                  <a:srgbClr val="C8C5BC"/>
                </a:solidFill>
                <a:latin typeface="Calibri"/>
                <a:ea typeface="Calibri"/>
                <a:cs typeface="Calibri"/>
                <a:sym typeface="Calibri"/>
              </a:rPr>
              <a:t>T² scales the soft loss to keep gradients comparable across temperatures.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7" name="Google Shape;46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6480" y="1554480"/>
            <a:ext cx="5577840" cy="384048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23"/>
          <p:cNvSpPr/>
          <p:nvPr/>
        </p:nvSpPr>
        <p:spPr>
          <a:xfrm>
            <a:off x="6126480" y="5486400"/>
            <a:ext cx="5577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Higher T spreads probability mass across classes — the "dark knowledge" the student learns from.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9" name="Google Shape;469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5499" y="2593271"/>
            <a:ext cx="2448809" cy="292625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pic>
      <p:pic>
        <p:nvPicPr>
          <p:cNvPr id="470" name="Google Shape;470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3200" y="2953475"/>
            <a:ext cx="2433408" cy="29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75971" y="3777425"/>
            <a:ext cx="2555554" cy="274325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pic>
      <p:pic>
        <p:nvPicPr>
          <p:cNvPr id="472" name="Google Shape;472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75974" y="4228222"/>
            <a:ext cx="2294796" cy="292625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pic>
      <p:pic>
        <p:nvPicPr>
          <p:cNvPr id="473" name="Google Shape;473;p2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75977" y="4683587"/>
            <a:ext cx="4305852" cy="36575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u_monogram_transparent.png" id="480" name="Google Shape;48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75720" y="228600"/>
            <a:ext cx="502920" cy="484632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24"/>
          <p:cNvSpPr/>
          <p:nvPr/>
        </p:nvSpPr>
        <p:spPr>
          <a:xfrm>
            <a:off x="365760" y="6565392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PART 4 · KNOWLEDGE DISTILLATION</a:t>
            </a:r>
            <a:r>
              <a:rPr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     24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4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932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B8932E"/>
                </a:solidFill>
                <a:latin typeface="Calibri"/>
                <a:ea typeface="Calibri"/>
                <a:cs typeface="Calibri"/>
                <a:sym typeface="Calibri"/>
              </a:rPr>
              <a:t>PART 4 · KNOWLEDGE DISTILLATION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4"/>
          <p:cNvSpPr/>
          <p:nvPr/>
        </p:nvSpPr>
        <p:spPr>
          <a:xfrm>
            <a:off x="548640" y="566928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Key hyperparameters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4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4"/>
          <p:cNvSpPr/>
          <p:nvPr/>
        </p:nvSpPr>
        <p:spPr>
          <a:xfrm>
            <a:off x="548640" y="1691640"/>
            <a:ext cx="5486400" cy="4297680"/>
          </a:xfrm>
          <a:prstGeom prst="rect">
            <a:avLst/>
          </a:prstGeom>
          <a:solidFill>
            <a:srgbClr val="F8F7F3"/>
          </a:solidFill>
          <a:ln cap="flat" cmpd="sng" w="12700">
            <a:solidFill>
              <a:srgbClr val="D4B05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4"/>
          <p:cNvSpPr/>
          <p:nvPr/>
        </p:nvSpPr>
        <p:spPr>
          <a:xfrm>
            <a:off x="822960" y="1874520"/>
            <a:ext cx="14630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932E"/>
              </a:buClr>
              <a:buSzPts val="8000"/>
              <a:buFont typeface="Georgia"/>
              <a:buNone/>
            </a:pPr>
            <a:r>
              <a:rPr b="1" lang="en-US" sz="8000">
                <a:solidFill>
                  <a:srgbClr val="B8932E"/>
                </a:solidFill>
                <a:latin typeface="Georgia"/>
                <a:ea typeface="Georgia"/>
                <a:cs typeface="Georgia"/>
                <a:sym typeface="Georgia"/>
              </a:rPr>
              <a:t>T</a:t>
            </a:r>
            <a:endParaRPr sz="8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4"/>
          <p:cNvSpPr/>
          <p:nvPr/>
        </p:nvSpPr>
        <p:spPr>
          <a:xfrm>
            <a:off x="2331720" y="210312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Temperature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4"/>
          <p:cNvSpPr/>
          <p:nvPr/>
        </p:nvSpPr>
        <p:spPr>
          <a:xfrm>
            <a:off x="2331720" y="256032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i="1" lang="en-US" sz="16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Controls softness of the probability distribution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4"/>
          <p:cNvSpPr/>
          <p:nvPr/>
        </p:nvSpPr>
        <p:spPr>
          <a:xfrm>
            <a:off x="914400" y="3383280"/>
            <a:ext cx="484632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619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Higher T → softer → more "dark knowledge"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Too low: behaves like hard targets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Too high: distribution flattens, signal lost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Common range: 2 – 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4"/>
          <p:cNvSpPr/>
          <p:nvPr/>
        </p:nvSpPr>
        <p:spPr>
          <a:xfrm>
            <a:off x="6172200" y="1691640"/>
            <a:ext cx="5486400" cy="4297680"/>
          </a:xfrm>
          <a:prstGeom prst="rect">
            <a:avLst/>
          </a:prstGeom>
          <a:solidFill>
            <a:srgbClr val="F8F7F3"/>
          </a:solidFill>
          <a:ln cap="flat" cmpd="sng" w="12700">
            <a:solidFill>
              <a:srgbClr val="D4B05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4"/>
          <p:cNvSpPr/>
          <p:nvPr/>
        </p:nvSpPr>
        <p:spPr>
          <a:xfrm>
            <a:off x="6446520" y="1874520"/>
            <a:ext cx="14630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932E"/>
              </a:buClr>
              <a:buSzPts val="8000"/>
              <a:buFont typeface="Georgia"/>
              <a:buNone/>
            </a:pPr>
            <a:r>
              <a:rPr b="1" lang="en-US" sz="8000">
                <a:solidFill>
                  <a:srgbClr val="B8932E"/>
                </a:solidFill>
                <a:latin typeface="Georgia"/>
                <a:ea typeface="Georgia"/>
                <a:cs typeface="Georgia"/>
                <a:sym typeface="Georgia"/>
              </a:rPr>
              <a:t>α</a:t>
            </a:r>
            <a:endParaRPr sz="8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4"/>
          <p:cNvSpPr/>
          <p:nvPr/>
        </p:nvSpPr>
        <p:spPr>
          <a:xfrm>
            <a:off x="7955280" y="210312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Alpha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4"/>
          <p:cNvSpPr/>
          <p:nvPr/>
        </p:nvSpPr>
        <p:spPr>
          <a:xfrm>
            <a:off x="7955280" y="256032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i="1" lang="en-US" sz="16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Balances ground truth vs teacher's soft targets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4"/>
          <p:cNvSpPr/>
          <p:nvPr/>
        </p:nvSpPr>
        <p:spPr>
          <a:xfrm>
            <a:off x="6537960" y="3383280"/>
            <a:ext cx="484632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619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α near 0: trust the teacher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α near 1: ignore distillation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α near 0.5: balanced training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Common range: 0.1 – 0.9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4"/>
          <p:cNvSpPr/>
          <p:nvPr/>
        </p:nvSpPr>
        <p:spPr>
          <a:xfrm>
            <a:off x="548640" y="6126480"/>
            <a:ext cx="11109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932E"/>
              </a:buClr>
              <a:buSzPts val="1200"/>
              <a:buFont typeface="Calibri"/>
              <a:buNone/>
            </a:pPr>
            <a:r>
              <a:rPr i="1" lang="en-US" sz="1600">
                <a:solidFill>
                  <a:srgbClr val="B8932E"/>
                </a:solidFill>
                <a:latin typeface="Calibri"/>
                <a:ea typeface="Calibri"/>
                <a:cs typeface="Calibri"/>
                <a:sym typeface="Calibri"/>
              </a:rPr>
              <a:t>Sweep both T and α — small changes can shift student accuracy by several percent.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u_monogram_transparent.png" id="502" name="Google Shape;50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75720" y="228600"/>
            <a:ext cx="502920" cy="484632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25"/>
          <p:cNvSpPr/>
          <p:nvPr/>
        </p:nvSpPr>
        <p:spPr>
          <a:xfrm>
            <a:off x="365760" y="6565392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PART 4 · KNOWLEDGE DISTILLATION</a:t>
            </a:r>
            <a:r>
              <a:rPr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     25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5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932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B8932E"/>
                </a:solidFill>
                <a:latin typeface="Calibri"/>
                <a:ea typeface="Calibri"/>
                <a:cs typeface="Calibri"/>
                <a:sym typeface="Calibri"/>
              </a:rPr>
              <a:t>PART 4 · KNOWLEDGE DISTILLATION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5"/>
          <p:cNvSpPr/>
          <p:nvPr/>
        </p:nvSpPr>
        <p:spPr>
          <a:xfrm>
            <a:off x="548640" y="566928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Benefits of knowledge distillation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5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5"/>
          <p:cNvSpPr/>
          <p:nvPr/>
        </p:nvSpPr>
        <p:spPr>
          <a:xfrm>
            <a:off x="548640" y="1691640"/>
            <a:ext cx="3611880" cy="2286000"/>
          </a:xfrm>
          <a:prstGeom prst="rect">
            <a:avLst/>
          </a:prstGeom>
          <a:solidFill>
            <a:srgbClr val="F8F7F3"/>
          </a:solidFill>
          <a:ln cap="flat" cmpd="sng" w="12700">
            <a:solidFill>
              <a:srgbClr val="D4B05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5"/>
          <p:cNvSpPr/>
          <p:nvPr/>
        </p:nvSpPr>
        <p:spPr>
          <a:xfrm>
            <a:off x="548640" y="1691640"/>
            <a:ext cx="3611880" cy="73152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5"/>
          <p:cNvSpPr/>
          <p:nvPr/>
        </p:nvSpPr>
        <p:spPr>
          <a:xfrm>
            <a:off x="731520" y="1965960"/>
            <a:ext cx="3246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600"/>
              <a:buFont typeface="Georgia"/>
              <a:buNone/>
            </a:pPr>
            <a:r>
              <a:rPr b="1" lang="en-US" sz="56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~2×</a:t>
            </a:r>
            <a:endParaRPr sz="5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5"/>
          <p:cNvSpPr/>
          <p:nvPr/>
        </p:nvSpPr>
        <p:spPr>
          <a:xfrm>
            <a:off x="731520" y="2971800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932E"/>
              </a:buClr>
              <a:buSzPts val="1400"/>
              <a:buFont typeface="Georgia"/>
              <a:buNone/>
            </a:pPr>
            <a:r>
              <a:rPr b="1" lang="en-US" sz="1800">
                <a:solidFill>
                  <a:srgbClr val="B8932E"/>
                </a:solidFill>
                <a:latin typeface="Georgia"/>
                <a:ea typeface="Georgia"/>
                <a:cs typeface="Georgia"/>
                <a:sym typeface="Georgia"/>
              </a:rPr>
              <a:t>smaller student model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5"/>
          <p:cNvSpPr/>
          <p:nvPr/>
        </p:nvSpPr>
        <p:spPr>
          <a:xfrm>
            <a:off x="822960" y="3383280"/>
            <a:ext cx="3063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i="1" lang="en-US" sz="16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Compact MobileNetV2 vs enhanced teacher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5"/>
          <p:cNvSpPr/>
          <p:nvPr/>
        </p:nvSpPr>
        <p:spPr>
          <a:xfrm>
            <a:off x="4325112" y="1691640"/>
            <a:ext cx="3611880" cy="2286000"/>
          </a:xfrm>
          <a:prstGeom prst="rect">
            <a:avLst/>
          </a:prstGeom>
          <a:solidFill>
            <a:srgbClr val="F8F7F3"/>
          </a:solidFill>
          <a:ln cap="flat" cmpd="sng" w="12700">
            <a:solidFill>
              <a:srgbClr val="D4B05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5"/>
          <p:cNvSpPr/>
          <p:nvPr/>
        </p:nvSpPr>
        <p:spPr>
          <a:xfrm>
            <a:off x="4325112" y="1691640"/>
            <a:ext cx="3611880" cy="73152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5"/>
          <p:cNvSpPr/>
          <p:nvPr/>
        </p:nvSpPr>
        <p:spPr>
          <a:xfrm>
            <a:off x="4507992" y="1965960"/>
            <a:ext cx="3246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600"/>
              <a:buFont typeface="Georgia"/>
              <a:buNone/>
            </a:pPr>
            <a:r>
              <a:rPr b="1" lang="en-US" sz="56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~2×</a:t>
            </a:r>
            <a:endParaRPr sz="5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5"/>
          <p:cNvSpPr/>
          <p:nvPr/>
        </p:nvSpPr>
        <p:spPr>
          <a:xfrm>
            <a:off x="4507992" y="2971800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932E"/>
              </a:buClr>
              <a:buSzPts val="1400"/>
              <a:buFont typeface="Georgia"/>
              <a:buNone/>
            </a:pPr>
            <a:r>
              <a:rPr b="1" lang="en-US" sz="1800">
                <a:solidFill>
                  <a:srgbClr val="B8932E"/>
                </a:solidFill>
                <a:latin typeface="Georgia"/>
                <a:ea typeface="Georgia"/>
                <a:cs typeface="Georgia"/>
                <a:sym typeface="Georgia"/>
              </a:rPr>
              <a:t>faster inference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5"/>
          <p:cNvSpPr/>
          <p:nvPr/>
        </p:nvSpPr>
        <p:spPr>
          <a:xfrm>
            <a:off x="4599432" y="3383280"/>
            <a:ext cx="3063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i="1" lang="en-US" sz="16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Fewer multiplies per forward pass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5"/>
          <p:cNvSpPr/>
          <p:nvPr/>
        </p:nvSpPr>
        <p:spPr>
          <a:xfrm>
            <a:off x="8101584" y="1691640"/>
            <a:ext cx="3611880" cy="2286000"/>
          </a:xfrm>
          <a:prstGeom prst="rect">
            <a:avLst/>
          </a:prstGeom>
          <a:solidFill>
            <a:srgbClr val="F8F7F3"/>
          </a:solidFill>
          <a:ln cap="flat" cmpd="sng" w="12700">
            <a:solidFill>
              <a:srgbClr val="D4B05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5"/>
          <p:cNvSpPr/>
          <p:nvPr/>
        </p:nvSpPr>
        <p:spPr>
          <a:xfrm>
            <a:off x="8101584" y="1691640"/>
            <a:ext cx="3611880" cy="73152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5"/>
          <p:cNvSpPr/>
          <p:nvPr/>
        </p:nvSpPr>
        <p:spPr>
          <a:xfrm>
            <a:off x="8284464" y="1965960"/>
            <a:ext cx="3246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600"/>
              <a:buFont typeface="Georgia"/>
              <a:buNone/>
            </a:pPr>
            <a:r>
              <a:rPr b="1" lang="en-US" sz="56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+ x %</a:t>
            </a:r>
            <a:endParaRPr sz="5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5"/>
          <p:cNvSpPr/>
          <p:nvPr/>
        </p:nvSpPr>
        <p:spPr>
          <a:xfrm>
            <a:off x="8284464" y="2971800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932E"/>
              </a:buClr>
              <a:buSzPts val="1400"/>
              <a:buFont typeface="Georgia"/>
              <a:buNone/>
            </a:pPr>
            <a:r>
              <a:rPr b="1" lang="en-US" sz="1800">
                <a:solidFill>
                  <a:srgbClr val="B8932E"/>
                </a:solidFill>
                <a:latin typeface="Georgia"/>
                <a:ea typeface="Georgia"/>
                <a:cs typeface="Georgia"/>
                <a:sym typeface="Georgia"/>
              </a:rPr>
              <a:t>accuracy uplift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5"/>
          <p:cNvSpPr/>
          <p:nvPr/>
        </p:nvSpPr>
        <p:spPr>
          <a:xfrm>
            <a:off x="8375904" y="3383280"/>
            <a:ext cx="3063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i="1" lang="en-US" sz="16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vs same-size model trained without a teacher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5"/>
          <p:cNvSpPr/>
          <p:nvPr/>
        </p:nvSpPr>
        <p:spPr>
          <a:xfrm>
            <a:off x="548640" y="4251960"/>
            <a:ext cx="11109960" cy="19202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5"/>
          <p:cNvSpPr/>
          <p:nvPr/>
        </p:nvSpPr>
        <p:spPr>
          <a:xfrm>
            <a:off x="777240" y="43891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B05E"/>
              </a:buClr>
              <a:buSzPts val="1600"/>
              <a:buFont typeface="Georgia"/>
              <a:buNone/>
            </a:pPr>
            <a:r>
              <a:rPr b="1" lang="en-US" sz="1800">
                <a:solidFill>
                  <a:srgbClr val="D4B05E"/>
                </a:solidFill>
                <a:latin typeface="Georgia"/>
                <a:ea typeface="Georgia"/>
                <a:cs typeface="Georgia"/>
                <a:sym typeface="Georgia"/>
              </a:rPr>
              <a:t>Especially useful when…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5"/>
          <p:cNvSpPr/>
          <p:nvPr/>
        </p:nvSpPr>
        <p:spPr>
          <a:xfrm>
            <a:off x="868680" y="4846320"/>
            <a:ext cx="10515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619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Deploying to many edge devices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Memory, bandwidth, and energy budgets are tight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strong, larger teacher already exists in production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You need a small dense model — not a sparse one — for hardware reasons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5"/>
          <p:cNvSpPr/>
          <p:nvPr/>
        </p:nvSpPr>
        <p:spPr>
          <a:xfrm>
            <a:off x="548640" y="6263640"/>
            <a:ext cx="11109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+ x % uplift is illustrative — Notebook 3 measures the actual gain on CIFAR-10.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6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u_monogram_transparent.png" id="532" name="Google Shape;53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75720" y="228600"/>
            <a:ext cx="502920" cy="484632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26"/>
          <p:cNvSpPr/>
          <p:nvPr/>
        </p:nvSpPr>
        <p:spPr>
          <a:xfrm>
            <a:off x="365760" y="6565392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PART 4 · KNOWLEDGE DISTILLATION</a:t>
            </a:r>
            <a:r>
              <a:rPr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     26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6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932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B8932E"/>
                </a:solidFill>
                <a:latin typeface="Calibri"/>
                <a:ea typeface="Calibri"/>
                <a:cs typeface="Calibri"/>
                <a:sym typeface="Calibri"/>
              </a:rPr>
              <a:t>PART 4 · KNOWLEDGE DISTILLATION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6"/>
          <p:cNvSpPr/>
          <p:nvPr/>
        </p:nvSpPr>
        <p:spPr>
          <a:xfrm>
            <a:off x="548640" y="566928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Knowledge distillation in this workshop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6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7" name="Google Shape;53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1554480"/>
            <a:ext cx="11109960" cy="1417320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26"/>
          <p:cNvSpPr/>
          <p:nvPr/>
        </p:nvSpPr>
        <p:spPr>
          <a:xfrm>
            <a:off x="548640" y="3246120"/>
            <a:ext cx="3611880" cy="1828800"/>
          </a:xfrm>
          <a:prstGeom prst="rect">
            <a:avLst/>
          </a:prstGeom>
          <a:solidFill>
            <a:srgbClr val="1A1A1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6"/>
          <p:cNvSpPr/>
          <p:nvPr/>
        </p:nvSpPr>
        <p:spPr>
          <a:xfrm>
            <a:off x="731520" y="3520440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Teacher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6"/>
          <p:cNvSpPr/>
          <p:nvPr/>
        </p:nvSpPr>
        <p:spPr>
          <a:xfrm>
            <a:off x="731520" y="4114800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B05E"/>
              </a:buClr>
              <a:buSzPts val="1200"/>
              <a:buFont typeface="Calibri"/>
              <a:buNone/>
            </a:pPr>
            <a:r>
              <a:rPr i="1" lang="en-US" sz="1600">
                <a:solidFill>
                  <a:srgbClr val="D4B05E"/>
                </a:solidFill>
                <a:latin typeface="Calibri"/>
                <a:ea typeface="Calibri"/>
                <a:cs typeface="Calibri"/>
                <a:sym typeface="Calibri"/>
              </a:rPr>
              <a:t>baseline accuracy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6"/>
          <p:cNvSpPr/>
          <p:nvPr/>
        </p:nvSpPr>
        <p:spPr>
          <a:xfrm>
            <a:off x="731520" y="4617720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B05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4B05E"/>
                </a:solidFill>
                <a:latin typeface="Calibri"/>
                <a:ea typeface="Calibri"/>
                <a:cs typeface="Calibri"/>
                <a:sym typeface="Calibri"/>
              </a:rPr>
              <a:t>compare ↓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6"/>
          <p:cNvSpPr/>
          <p:nvPr/>
        </p:nvSpPr>
        <p:spPr>
          <a:xfrm>
            <a:off x="4325112" y="3246120"/>
            <a:ext cx="3611880" cy="1828800"/>
          </a:xfrm>
          <a:prstGeom prst="rect">
            <a:avLst/>
          </a:prstGeom>
          <a:solidFill>
            <a:srgbClr val="B8932E"/>
          </a:solidFill>
          <a:ln>
            <a:noFill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6"/>
          <p:cNvSpPr/>
          <p:nvPr/>
        </p:nvSpPr>
        <p:spPr>
          <a:xfrm>
            <a:off x="4507992" y="3520440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Student + KD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6"/>
          <p:cNvSpPr/>
          <p:nvPr/>
        </p:nvSpPr>
        <p:spPr>
          <a:xfrm>
            <a:off x="4507992" y="4114800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i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trained with soft targets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6"/>
          <p:cNvSpPr/>
          <p:nvPr/>
        </p:nvSpPr>
        <p:spPr>
          <a:xfrm>
            <a:off x="4507992" y="4617720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compare ↓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6"/>
          <p:cNvSpPr/>
          <p:nvPr/>
        </p:nvSpPr>
        <p:spPr>
          <a:xfrm>
            <a:off x="8101584" y="3246120"/>
            <a:ext cx="3611880" cy="1828800"/>
          </a:xfrm>
          <a:prstGeom prst="rect">
            <a:avLst/>
          </a:prstGeom>
          <a:solidFill>
            <a:srgbClr val="F8F7F3"/>
          </a:solidFill>
          <a:ln cap="flat" cmpd="sng" w="12700">
            <a:solidFill>
              <a:srgbClr val="D4B05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6"/>
          <p:cNvSpPr/>
          <p:nvPr/>
        </p:nvSpPr>
        <p:spPr>
          <a:xfrm>
            <a:off x="8284464" y="3520440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Student − KD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6"/>
          <p:cNvSpPr/>
          <p:nvPr/>
        </p:nvSpPr>
        <p:spPr>
          <a:xfrm>
            <a:off x="8284464" y="4114800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i="1" lang="en-US" sz="16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trained on hard labels only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6"/>
          <p:cNvSpPr/>
          <p:nvPr/>
        </p:nvSpPr>
        <p:spPr>
          <a:xfrm>
            <a:off x="8284464" y="4617720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compare ↓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6"/>
          <p:cNvSpPr/>
          <p:nvPr/>
        </p:nvSpPr>
        <p:spPr>
          <a:xfrm>
            <a:off x="548640" y="53492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Georgia"/>
              <a:buNone/>
            </a:pPr>
            <a:r>
              <a:rPr b="1" lang="en-US" sz="1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Analys</a:t>
            </a:r>
            <a:r>
              <a:rPr b="1" lang="en-US" sz="1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i</a:t>
            </a:r>
            <a:r>
              <a:rPr b="1" lang="en-US" sz="1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6"/>
          <p:cNvSpPr/>
          <p:nvPr/>
        </p:nvSpPr>
        <p:spPr>
          <a:xfrm>
            <a:off x="640080" y="57150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Effect of T and α on student accuracy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Performance vs model size — does the gap close as the student grows?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7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u_monogram_transparent.png" id="558" name="Google Shape;55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75720" y="228600"/>
            <a:ext cx="502920" cy="484632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27"/>
          <p:cNvSpPr/>
          <p:nvPr/>
        </p:nvSpPr>
        <p:spPr>
          <a:xfrm>
            <a:off x="365760" y="6565392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PART 4 · KNOWLEDGE DISTILLATION</a:t>
            </a:r>
            <a:r>
              <a:rPr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     27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7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932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B8932E"/>
                </a:solidFill>
                <a:latin typeface="Calibri"/>
                <a:ea typeface="Calibri"/>
                <a:cs typeface="Calibri"/>
                <a:sym typeface="Calibri"/>
              </a:rPr>
              <a:t>PART 4 · KNOWLEDGE DISTILLATION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7"/>
          <p:cNvSpPr/>
          <p:nvPr/>
        </p:nvSpPr>
        <p:spPr>
          <a:xfrm>
            <a:off x="548640" y="566928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Notebook 3 highlights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7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27"/>
          <p:cNvSpPr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Georgia"/>
              <a:buNone/>
            </a:pPr>
            <a:r>
              <a:rPr b="1" lang="en-US" sz="1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What you'll do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7"/>
          <p:cNvSpPr/>
          <p:nvPr/>
        </p:nvSpPr>
        <p:spPr>
          <a:xfrm>
            <a:off x="493780" y="1554485"/>
            <a:ext cx="5486400" cy="38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619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Implement the distillation loss function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Build the training loop for the student model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Compare accuracy: teacher vs student (+/− KD)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Compare parameter counts and inference time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Hands-on: try different T and α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Experiment with different student sizes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5" name="Google Shape;56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0" y="1691640"/>
            <a:ext cx="5212080" cy="4023360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27"/>
          <p:cNvSpPr/>
          <p:nvPr/>
        </p:nvSpPr>
        <p:spPr>
          <a:xfrm>
            <a:off x="6400800" y="5852160"/>
            <a:ext cx="5212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Schematic numbers; Notebook 3 reports the measured values on CIFAR-10.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28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u_monogram_transparent.png" id="573" name="Google Shape;57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75720" y="228600"/>
            <a:ext cx="502920" cy="484632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28"/>
          <p:cNvSpPr/>
          <p:nvPr/>
        </p:nvSpPr>
        <p:spPr>
          <a:xfrm>
            <a:off x="365760" y="6565392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PART 5 · WRAP-UP</a:t>
            </a:r>
            <a:r>
              <a:rPr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     28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8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932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B8932E"/>
                </a:solidFill>
                <a:latin typeface="Calibri"/>
                <a:ea typeface="Calibri"/>
                <a:cs typeface="Calibri"/>
                <a:sym typeface="Calibri"/>
              </a:rPr>
              <a:t>PART 5 · PUTTING IT ALL TOGETHER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8"/>
          <p:cNvSpPr/>
          <p:nvPr/>
        </p:nvSpPr>
        <p:spPr>
          <a:xfrm>
            <a:off x="548640" y="566928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Comparing the three techniques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8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28"/>
          <p:cNvSpPr/>
          <p:nvPr/>
        </p:nvSpPr>
        <p:spPr>
          <a:xfrm>
            <a:off x="548640" y="1691640"/>
            <a:ext cx="3611880" cy="4434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C5B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8"/>
          <p:cNvSpPr/>
          <p:nvPr/>
        </p:nvSpPr>
        <p:spPr>
          <a:xfrm>
            <a:off x="548640" y="1691640"/>
            <a:ext cx="3611880" cy="457200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8"/>
          <p:cNvSpPr/>
          <p:nvPr/>
        </p:nvSpPr>
        <p:spPr>
          <a:xfrm>
            <a:off x="731520" y="1737360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lang="en-US" sz="1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Quantization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8"/>
          <p:cNvSpPr/>
          <p:nvPr/>
        </p:nvSpPr>
        <p:spPr>
          <a:xfrm>
            <a:off x="777240" y="2331720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932E"/>
              </a:buClr>
              <a:buSzPts val="1100"/>
              <a:buFont typeface="Calibri"/>
              <a:buNone/>
            </a:pPr>
            <a:r>
              <a:rPr b="1" lang="en-US" sz="1600">
                <a:solidFill>
                  <a:srgbClr val="B8932E"/>
                </a:solidFill>
                <a:latin typeface="Calibri"/>
                <a:ea typeface="Calibri"/>
                <a:cs typeface="Calibri"/>
                <a:sym typeface="Calibri"/>
              </a:rPr>
              <a:t>Pros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8"/>
          <p:cNvSpPr/>
          <p:nvPr/>
        </p:nvSpPr>
        <p:spPr>
          <a:xfrm>
            <a:off x="822960" y="2606040"/>
            <a:ext cx="31089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Large size reduction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Faster inference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PTQ requires no retraining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8"/>
          <p:cNvSpPr/>
          <p:nvPr/>
        </p:nvSpPr>
        <p:spPr>
          <a:xfrm>
            <a:off x="777240" y="4297680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2A2A"/>
              </a:buClr>
              <a:buSzPts val="1100"/>
              <a:buFont typeface="Calibri"/>
              <a:buNone/>
            </a:pPr>
            <a:r>
              <a:rPr b="1" lang="en-US" sz="1600">
                <a:solidFill>
                  <a:srgbClr val="8C2A2A"/>
                </a:solidFill>
                <a:latin typeface="Calibri"/>
                <a:ea typeface="Calibri"/>
                <a:cs typeface="Calibri"/>
                <a:sym typeface="Calibri"/>
              </a:rPr>
              <a:t>Cons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8"/>
          <p:cNvSpPr/>
          <p:nvPr/>
        </p:nvSpPr>
        <p:spPr>
          <a:xfrm>
            <a:off x="822960" y="4572000"/>
            <a:ext cx="31089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Accuracy loss possible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Needs hardware support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8"/>
          <p:cNvSpPr/>
          <p:nvPr/>
        </p:nvSpPr>
        <p:spPr>
          <a:xfrm>
            <a:off x="4325112" y="1691640"/>
            <a:ext cx="3611880" cy="4434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C5B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8"/>
          <p:cNvSpPr/>
          <p:nvPr/>
        </p:nvSpPr>
        <p:spPr>
          <a:xfrm>
            <a:off x="4325112" y="1691640"/>
            <a:ext cx="361188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8"/>
          <p:cNvSpPr/>
          <p:nvPr/>
        </p:nvSpPr>
        <p:spPr>
          <a:xfrm>
            <a:off x="4507992" y="1737360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lang="en-US" sz="1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Pruning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8"/>
          <p:cNvSpPr/>
          <p:nvPr/>
        </p:nvSpPr>
        <p:spPr>
          <a:xfrm>
            <a:off x="4553712" y="2331720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932E"/>
              </a:buClr>
              <a:buSzPts val="1100"/>
              <a:buFont typeface="Calibri"/>
              <a:buNone/>
            </a:pPr>
            <a:r>
              <a:rPr b="1" lang="en-US" sz="1600">
                <a:solidFill>
                  <a:srgbClr val="B8932E"/>
                </a:solidFill>
                <a:latin typeface="Calibri"/>
                <a:ea typeface="Calibri"/>
                <a:cs typeface="Calibri"/>
                <a:sym typeface="Calibri"/>
              </a:rPr>
              <a:t>Pros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8"/>
          <p:cNvSpPr/>
          <p:nvPr/>
        </p:nvSpPr>
        <p:spPr>
          <a:xfrm>
            <a:off x="4599432" y="2606040"/>
            <a:ext cx="31089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Reduces parameter count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Conceptually simple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Composable with quant / KD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8"/>
          <p:cNvSpPr/>
          <p:nvPr/>
        </p:nvSpPr>
        <p:spPr>
          <a:xfrm>
            <a:off x="4553712" y="4297680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2A2A"/>
              </a:buClr>
              <a:buSzPts val="1100"/>
              <a:buFont typeface="Calibri"/>
              <a:buNone/>
            </a:pPr>
            <a:r>
              <a:rPr b="1" lang="en-US" sz="1600">
                <a:solidFill>
                  <a:srgbClr val="8C2A2A"/>
                </a:solidFill>
                <a:latin typeface="Calibri"/>
                <a:ea typeface="Calibri"/>
                <a:cs typeface="Calibri"/>
                <a:sym typeface="Calibri"/>
              </a:rPr>
              <a:t>Cons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8"/>
          <p:cNvSpPr/>
          <p:nvPr/>
        </p:nvSpPr>
        <p:spPr>
          <a:xfrm>
            <a:off x="4599432" y="4572000"/>
            <a:ext cx="31089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Sparse speedups depend on kernels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Can hurt accuracy at high sparsity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8"/>
          <p:cNvSpPr/>
          <p:nvPr/>
        </p:nvSpPr>
        <p:spPr>
          <a:xfrm>
            <a:off x="8101584" y="1691640"/>
            <a:ext cx="3611880" cy="4434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C5B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8"/>
          <p:cNvSpPr/>
          <p:nvPr/>
        </p:nvSpPr>
        <p:spPr>
          <a:xfrm>
            <a:off x="8101584" y="1691640"/>
            <a:ext cx="3611880" cy="457200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8"/>
          <p:cNvSpPr/>
          <p:nvPr/>
        </p:nvSpPr>
        <p:spPr>
          <a:xfrm>
            <a:off x="8284464" y="1737360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lang="en-US" sz="1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Knowledge Distillation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8"/>
          <p:cNvSpPr/>
          <p:nvPr/>
        </p:nvSpPr>
        <p:spPr>
          <a:xfrm>
            <a:off x="8330184" y="2331720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932E"/>
              </a:buClr>
              <a:buSzPts val="1100"/>
              <a:buFont typeface="Calibri"/>
              <a:buNone/>
            </a:pPr>
            <a:r>
              <a:rPr b="1" lang="en-US" sz="1600">
                <a:solidFill>
                  <a:srgbClr val="B8932E"/>
                </a:solidFill>
                <a:latin typeface="Calibri"/>
                <a:ea typeface="Calibri"/>
                <a:cs typeface="Calibri"/>
                <a:sym typeface="Calibri"/>
              </a:rPr>
              <a:t>Pros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8"/>
          <p:cNvSpPr/>
          <p:nvPr/>
        </p:nvSpPr>
        <p:spPr>
          <a:xfrm>
            <a:off x="8375904" y="2606040"/>
            <a:ext cx="31089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Small dense models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Easy to deploy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Strong performance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8"/>
          <p:cNvSpPr/>
          <p:nvPr/>
        </p:nvSpPr>
        <p:spPr>
          <a:xfrm>
            <a:off x="8330184" y="4297680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2A2A"/>
              </a:buClr>
              <a:buSzPts val="1100"/>
              <a:buFont typeface="Calibri"/>
              <a:buNone/>
            </a:pPr>
            <a:r>
              <a:rPr b="1" lang="en-US" sz="1600">
                <a:solidFill>
                  <a:srgbClr val="8C2A2A"/>
                </a:solidFill>
                <a:latin typeface="Calibri"/>
                <a:ea typeface="Calibri"/>
                <a:cs typeface="Calibri"/>
                <a:sym typeface="Calibri"/>
              </a:rPr>
              <a:t>Cons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8"/>
          <p:cNvSpPr/>
          <p:nvPr/>
        </p:nvSpPr>
        <p:spPr>
          <a:xfrm>
            <a:off x="8375904" y="4572000"/>
            <a:ext cx="31089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Needs a teacher model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■"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Extra training cost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8"/>
          <p:cNvSpPr/>
          <p:nvPr/>
        </p:nvSpPr>
        <p:spPr>
          <a:xfrm>
            <a:off x="548640" y="6263640"/>
            <a:ext cx="11109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932E"/>
              </a:buClr>
              <a:buSzPts val="1200"/>
              <a:buFont typeface="Calibri"/>
              <a:buNone/>
            </a:pPr>
            <a:r>
              <a:rPr i="1" lang="en-US" sz="1600">
                <a:solidFill>
                  <a:srgbClr val="B8932E"/>
                </a:solidFill>
                <a:latin typeface="Calibri"/>
                <a:ea typeface="Calibri"/>
                <a:cs typeface="Calibri"/>
                <a:sym typeface="Calibri"/>
              </a:rPr>
              <a:t>Most production deployments combine all three.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29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u_monogram_transparent.png" id="606" name="Google Shape;60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75720" y="228600"/>
            <a:ext cx="502920" cy="484632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29"/>
          <p:cNvSpPr/>
          <p:nvPr/>
        </p:nvSpPr>
        <p:spPr>
          <a:xfrm>
            <a:off x="365760" y="6565392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PART 5 · WRAP-UP</a:t>
            </a:r>
            <a:r>
              <a:rPr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     29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9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932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B8932E"/>
                </a:solidFill>
                <a:latin typeface="Calibri"/>
                <a:ea typeface="Calibri"/>
                <a:cs typeface="Calibri"/>
                <a:sym typeface="Calibri"/>
              </a:rPr>
              <a:t>PART 5 · PUTTING IT ALL TOGETHER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9"/>
          <p:cNvSpPr/>
          <p:nvPr/>
        </p:nvSpPr>
        <p:spPr>
          <a:xfrm>
            <a:off x="548640" y="566928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Typical edge deployment strategy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9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1" name="Google Shape;61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1554480"/>
            <a:ext cx="11109960" cy="1417320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29"/>
          <p:cNvSpPr/>
          <p:nvPr/>
        </p:nvSpPr>
        <p:spPr>
          <a:xfrm>
            <a:off x="548640" y="324612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Evaluate at every stage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9"/>
          <p:cNvSpPr/>
          <p:nvPr/>
        </p:nvSpPr>
        <p:spPr>
          <a:xfrm>
            <a:off x="548640" y="3703320"/>
            <a:ext cx="5486400" cy="1097280"/>
          </a:xfrm>
          <a:prstGeom prst="rect">
            <a:avLst/>
          </a:prstGeom>
          <a:solidFill>
            <a:srgbClr val="F8F7F3"/>
          </a:solidFill>
          <a:ln cap="flat" cmpd="sng" w="12700">
            <a:solidFill>
              <a:srgbClr val="D4B0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29"/>
          <p:cNvSpPr/>
          <p:nvPr/>
        </p:nvSpPr>
        <p:spPr>
          <a:xfrm>
            <a:off x="777240" y="3931920"/>
            <a:ext cx="640080" cy="64008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5" name="Google Shape;615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2688" y="408736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29"/>
          <p:cNvSpPr/>
          <p:nvPr/>
        </p:nvSpPr>
        <p:spPr>
          <a:xfrm>
            <a:off x="1645920" y="388620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Georgia"/>
              <a:buNone/>
            </a:pPr>
            <a:r>
              <a:rPr b="1" lang="en-US" sz="1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Accuracy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9"/>
          <p:cNvSpPr/>
          <p:nvPr/>
        </p:nvSpPr>
        <p:spPr>
          <a:xfrm>
            <a:off x="1645920" y="4251960"/>
            <a:ext cx="4206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lang="en-US" sz="16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vs baseline on real validation data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9"/>
          <p:cNvSpPr/>
          <p:nvPr/>
        </p:nvSpPr>
        <p:spPr>
          <a:xfrm>
            <a:off x="6172200" y="3703320"/>
            <a:ext cx="5486400" cy="1097280"/>
          </a:xfrm>
          <a:prstGeom prst="rect">
            <a:avLst/>
          </a:prstGeom>
          <a:solidFill>
            <a:srgbClr val="F8F7F3"/>
          </a:solidFill>
          <a:ln cap="flat" cmpd="sng" w="12700">
            <a:solidFill>
              <a:srgbClr val="D4B0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29"/>
          <p:cNvSpPr/>
          <p:nvPr/>
        </p:nvSpPr>
        <p:spPr>
          <a:xfrm>
            <a:off x="6400800" y="3931920"/>
            <a:ext cx="640080" cy="64008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0" name="Google Shape;620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56248" y="408736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29"/>
          <p:cNvSpPr/>
          <p:nvPr/>
        </p:nvSpPr>
        <p:spPr>
          <a:xfrm>
            <a:off x="7269480" y="388620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Georgia"/>
              <a:buNone/>
            </a:pPr>
            <a:r>
              <a:rPr b="1" lang="en-US" sz="1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Latency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9"/>
          <p:cNvSpPr/>
          <p:nvPr/>
        </p:nvSpPr>
        <p:spPr>
          <a:xfrm>
            <a:off x="7269480" y="4251960"/>
            <a:ext cx="4206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lang="en-US" sz="16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per-batch and per-image on the target device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9"/>
          <p:cNvSpPr/>
          <p:nvPr/>
        </p:nvSpPr>
        <p:spPr>
          <a:xfrm>
            <a:off x="548640" y="4983480"/>
            <a:ext cx="5486400" cy="1097280"/>
          </a:xfrm>
          <a:prstGeom prst="rect">
            <a:avLst/>
          </a:prstGeom>
          <a:solidFill>
            <a:srgbClr val="F8F7F3"/>
          </a:solidFill>
          <a:ln cap="flat" cmpd="sng" w="12700">
            <a:solidFill>
              <a:srgbClr val="D4B0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29"/>
          <p:cNvSpPr/>
          <p:nvPr/>
        </p:nvSpPr>
        <p:spPr>
          <a:xfrm>
            <a:off x="777240" y="5212080"/>
            <a:ext cx="640080" cy="64008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5" name="Google Shape;625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2688" y="53675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29"/>
          <p:cNvSpPr/>
          <p:nvPr/>
        </p:nvSpPr>
        <p:spPr>
          <a:xfrm>
            <a:off x="1645920" y="516636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Georgia"/>
              <a:buNone/>
            </a:pPr>
            <a:r>
              <a:rPr b="1" lang="en-US" sz="1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Model size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9"/>
          <p:cNvSpPr/>
          <p:nvPr/>
        </p:nvSpPr>
        <p:spPr>
          <a:xfrm>
            <a:off x="1645920" y="5532120"/>
            <a:ext cx="4206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lang="en-US" sz="16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weights and activation buffers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9"/>
          <p:cNvSpPr/>
          <p:nvPr/>
        </p:nvSpPr>
        <p:spPr>
          <a:xfrm>
            <a:off x="6172200" y="4983480"/>
            <a:ext cx="5486400" cy="1097280"/>
          </a:xfrm>
          <a:prstGeom prst="rect">
            <a:avLst/>
          </a:prstGeom>
          <a:solidFill>
            <a:srgbClr val="F8F7F3"/>
          </a:solidFill>
          <a:ln cap="flat" cmpd="sng" w="12700">
            <a:solidFill>
              <a:srgbClr val="D4B0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29"/>
          <p:cNvSpPr/>
          <p:nvPr/>
        </p:nvSpPr>
        <p:spPr>
          <a:xfrm>
            <a:off x="6400800" y="5212080"/>
            <a:ext cx="640080" cy="64008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0" name="Google Shape;630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56248" y="53675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29"/>
          <p:cNvSpPr/>
          <p:nvPr/>
        </p:nvSpPr>
        <p:spPr>
          <a:xfrm>
            <a:off x="7269480" y="516636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Georgia"/>
              <a:buNone/>
            </a:pPr>
            <a:r>
              <a:rPr b="1" lang="en-US" sz="1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Energy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9"/>
          <p:cNvSpPr/>
          <p:nvPr/>
        </p:nvSpPr>
        <p:spPr>
          <a:xfrm>
            <a:off x="7269480" y="5532120"/>
            <a:ext cx="4206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lang="en-US" sz="16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joules per inference where measurable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9"/>
          <p:cNvSpPr/>
          <p:nvPr/>
        </p:nvSpPr>
        <p:spPr>
          <a:xfrm>
            <a:off x="548640" y="6263640"/>
            <a:ext cx="11109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Order is a guideline; sometimes prune-then-distill or quantize-then-prune fits the constraints better.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3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u_monogram_transparent.png" id="640" name="Google Shape;64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75720" y="228600"/>
            <a:ext cx="502920" cy="484632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30"/>
          <p:cNvSpPr/>
          <p:nvPr/>
        </p:nvSpPr>
        <p:spPr>
          <a:xfrm>
            <a:off x="365760" y="6565392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PART 5 · WRAP-UP</a:t>
            </a:r>
            <a:r>
              <a:rPr lang="en-US" sz="9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     30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30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932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B8932E"/>
                </a:solidFill>
                <a:latin typeface="Calibri"/>
                <a:ea typeface="Calibri"/>
                <a:cs typeface="Calibri"/>
                <a:sym typeface="Calibri"/>
              </a:rPr>
              <a:t>PART 5 · PUTTING IT ALL TOGETHER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30"/>
          <p:cNvSpPr/>
          <p:nvPr/>
        </p:nvSpPr>
        <p:spPr>
          <a:xfrm>
            <a:off x="548640" y="566928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Mapping theory to the notebooks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30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30"/>
          <p:cNvSpPr/>
          <p:nvPr/>
        </p:nvSpPr>
        <p:spPr>
          <a:xfrm>
            <a:off x="548640" y="1691640"/>
            <a:ext cx="3611880" cy="4297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C5B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30"/>
          <p:cNvSpPr/>
          <p:nvPr/>
        </p:nvSpPr>
        <p:spPr>
          <a:xfrm>
            <a:off x="548640" y="1691640"/>
            <a:ext cx="3611880" cy="640080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30"/>
          <p:cNvSpPr/>
          <p:nvPr/>
        </p:nvSpPr>
        <p:spPr>
          <a:xfrm>
            <a:off x="731520" y="1746504"/>
            <a:ext cx="3246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NOTEBOOK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30"/>
          <p:cNvSpPr/>
          <p:nvPr/>
        </p:nvSpPr>
        <p:spPr>
          <a:xfrm>
            <a:off x="731520" y="1920240"/>
            <a:ext cx="3246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30"/>
          <p:cNvSpPr/>
          <p:nvPr/>
        </p:nvSpPr>
        <p:spPr>
          <a:xfrm>
            <a:off x="1851660" y="2606040"/>
            <a:ext cx="1005840" cy="1005840"/>
          </a:xfrm>
          <a:prstGeom prst="ellipse">
            <a:avLst/>
          </a:prstGeom>
          <a:solidFill>
            <a:srgbClr val="F8F7F3"/>
          </a:solidFill>
          <a:ln cap="flat" cmpd="sng" w="12700">
            <a:solidFill>
              <a:srgbClr val="D4B0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0" name="Google Shape;65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61972" y="2816352"/>
            <a:ext cx="585216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30"/>
          <p:cNvSpPr/>
          <p:nvPr/>
        </p:nvSpPr>
        <p:spPr>
          <a:xfrm>
            <a:off x="731520" y="3886200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Georgia"/>
              <a:buNone/>
            </a:pPr>
            <a:r>
              <a:rPr b="1" lang="en-US" sz="1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Quantization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30"/>
          <p:cNvSpPr/>
          <p:nvPr/>
        </p:nvSpPr>
        <p:spPr>
          <a:xfrm>
            <a:off x="914400" y="4434840"/>
            <a:ext cx="28803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lang="en-US" sz="16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Implement PTQ on MobileNetV2. Evaluate size and accuracy impact.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30"/>
          <p:cNvSpPr/>
          <p:nvPr/>
        </p:nvSpPr>
        <p:spPr>
          <a:xfrm>
            <a:off x="4325112" y="1691640"/>
            <a:ext cx="3611880" cy="4297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C5B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30"/>
          <p:cNvSpPr/>
          <p:nvPr/>
        </p:nvSpPr>
        <p:spPr>
          <a:xfrm>
            <a:off x="4325112" y="1691640"/>
            <a:ext cx="3611880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30"/>
          <p:cNvSpPr/>
          <p:nvPr/>
        </p:nvSpPr>
        <p:spPr>
          <a:xfrm>
            <a:off x="4507992" y="1746504"/>
            <a:ext cx="3246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B05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D4B05E"/>
                </a:solidFill>
                <a:latin typeface="Calibri"/>
                <a:ea typeface="Calibri"/>
                <a:cs typeface="Calibri"/>
                <a:sym typeface="Calibri"/>
              </a:rPr>
              <a:t>NOTEBOOK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30"/>
          <p:cNvSpPr/>
          <p:nvPr/>
        </p:nvSpPr>
        <p:spPr>
          <a:xfrm>
            <a:off x="4507992" y="1920240"/>
            <a:ext cx="3246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30"/>
          <p:cNvSpPr/>
          <p:nvPr/>
        </p:nvSpPr>
        <p:spPr>
          <a:xfrm>
            <a:off x="5628132" y="2606040"/>
            <a:ext cx="1005840" cy="1005840"/>
          </a:xfrm>
          <a:prstGeom prst="ellipse">
            <a:avLst/>
          </a:prstGeom>
          <a:solidFill>
            <a:srgbClr val="F8F7F3"/>
          </a:solidFill>
          <a:ln cap="flat" cmpd="sng" w="12700">
            <a:solidFill>
              <a:srgbClr val="D4B0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8" name="Google Shape;658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38444" y="2816352"/>
            <a:ext cx="585216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30"/>
          <p:cNvSpPr/>
          <p:nvPr/>
        </p:nvSpPr>
        <p:spPr>
          <a:xfrm>
            <a:off x="4507992" y="3886200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Georgia"/>
              <a:buNone/>
            </a:pPr>
            <a:r>
              <a:rPr b="1" lang="en-US" sz="1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Pruning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30"/>
          <p:cNvSpPr/>
          <p:nvPr/>
        </p:nvSpPr>
        <p:spPr>
          <a:xfrm>
            <a:off x="4690872" y="4434840"/>
            <a:ext cx="28803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lang="en-US" sz="16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Apply magnitude-based pruning. Explore sparsity vs accuracy trade-offs.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30"/>
          <p:cNvSpPr/>
          <p:nvPr/>
        </p:nvSpPr>
        <p:spPr>
          <a:xfrm>
            <a:off x="8101584" y="1691640"/>
            <a:ext cx="3611880" cy="4297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C5B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30"/>
          <p:cNvSpPr/>
          <p:nvPr/>
        </p:nvSpPr>
        <p:spPr>
          <a:xfrm>
            <a:off x="8101584" y="1691640"/>
            <a:ext cx="3611880" cy="640080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30"/>
          <p:cNvSpPr/>
          <p:nvPr/>
        </p:nvSpPr>
        <p:spPr>
          <a:xfrm>
            <a:off x="8284464" y="1746504"/>
            <a:ext cx="3246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NOTEBOOK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30"/>
          <p:cNvSpPr/>
          <p:nvPr/>
        </p:nvSpPr>
        <p:spPr>
          <a:xfrm>
            <a:off x="8284464" y="1920240"/>
            <a:ext cx="3246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30"/>
          <p:cNvSpPr/>
          <p:nvPr/>
        </p:nvSpPr>
        <p:spPr>
          <a:xfrm>
            <a:off x="9404604" y="2606040"/>
            <a:ext cx="1005840" cy="1005840"/>
          </a:xfrm>
          <a:prstGeom prst="ellipse">
            <a:avLst/>
          </a:prstGeom>
          <a:solidFill>
            <a:srgbClr val="F8F7F3"/>
          </a:solidFill>
          <a:ln cap="flat" cmpd="sng" w="12700">
            <a:solidFill>
              <a:srgbClr val="D4B0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6" name="Google Shape;666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14916" y="2816352"/>
            <a:ext cx="585216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30"/>
          <p:cNvSpPr/>
          <p:nvPr/>
        </p:nvSpPr>
        <p:spPr>
          <a:xfrm>
            <a:off x="8284464" y="3886200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Georgia"/>
              <a:buNone/>
            </a:pPr>
            <a:r>
              <a:rPr b="1" lang="en-US" sz="18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Knowledge Distillation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0"/>
          <p:cNvSpPr/>
          <p:nvPr/>
        </p:nvSpPr>
        <p:spPr>
          <a:xfrm>
            <a:off x="8467344" y="4434840"/>
            <a:ext cx="28803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lang="en-US" sz="16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Train a student with distillation. Compare to teacher and non-distilled student.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31"/>
          <p:cNvSpPr/>
          <p:nvPr/>
        </p:nvSpPr>
        <p:spPr>
          <a:xfrm>
            <a:off x="0" y="0"/>
            <a:ext cx="12191700" cy="658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31"/>
          <p:cNvSpPr/>
          <p:nvPr/>
        </p:nvSpPr>
        <p:spPr>
          <a:xfrm>
            <a:off x="548640" y="197864"/>
            <a:ext cx="8869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Acknowledgements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31"/>
          <p:cNvSpPr/>
          <p:nvPr/>
        </p:nvSpPr>
        <p:spPr>
          <a:xfrm>
            <a:off x="548640" y="384048"/>
            <a:ext cx="8869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31"/>
          <p:cNvSpPr/>
          <p:nvPr/>
        </p:nvSpPr>
        <p:spPr>
          <a:xfrm>
            <a:off x="731520" y="960119"/>
            <a:ext cx="10792200" cy="21819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2700">
              <a:srgbClr val="000000">
                <a:alpha val="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31"/>
          <p:cNvSpPr/>
          <p:nvPr/>
        </p:nvSpPr>
        <p:spPr>
          <a:xfrm>
            <a:off x="937259" y="1197133"/>
            <a:ext cx="10586400" cy="20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03200" lvl="0" marL="20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NSF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NAIRR-Nat AI Research Resource (NAIRR) </a:t>
            </a:r>
            <a:r>
              <a:rPr b="0" i="0" lang="en-US" sz="1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Awards OAC-2528533 and OAC-2528534</a:t>
            </a:r>
            <a:endParaRPr b="0" i="0" sz="1800" u="none" cap="none" strike="noStrike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43142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43142"/>
                </a:solidFill>
                <a:latin typeface="Calibri"/>
                <a:ea typeface="Calibri"/>
                <a:cs typeface="Calibri"/>
                <a:sym typeface="Calibri"/>
              </a:rPr>
              <a:t>National Artificial Intelligence Research Resource (NAIRR) Pilot allocation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NAIRR250048</a:t>
            </a:r>
            <a:r>
              <a:rPr b="0" i="0" lang="en-US" sz="1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43142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43142"/>
                </a:solidFill>
                <a:latin typeface="Calibri"/>
                <a:ea typeface="Calibri"/>
                <a:cs typeface="Calibri"/>
                <a:sym typeface="Calibri"/>
              </a:rPr>
              <a:t>Jetstream2 cloud resource supported by the NSF (award NSF-OAC 2005506) at Indiana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20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431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31"/>
          <p:cNvSpPr/>
          <p:nvPr/>
        </p:nvSpPr>
        <p:spPr>
          <a:xfrm>
            <a:off x="0" y="6537960"/>
            <a:ext cx="12191700" cy="320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31"/>
          <p:cNvSpPr/>
          <p:nvPr/>
        </p:nvSpPr>
        <p:spPr>
          <a:xfrm>
            <a:off x="548640" y="6611112"/>
            <a:ext cx="9601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Contact: fu@oakland.edu | jdai@wpi.edu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31"/>
          <p:cNvSpPr/>
          <p:nvPr/>
        </p:nvSpPr>
        <p:spPr>
          <a:xfrm>
            <a:off x="895673" y="3455441"/>
            <a:ext cx="10241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Call to action for cybersecurity faculty and SFS PIs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1"/>
          <p:cNvSpPr/>
          <p:nvPr/>
        </p:nvSpPr>
        <p:spPr>
          <a:xfrm>
            <a:off x="895673" y="3821201"/>
            <a:ext cx="102414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Adopt one workshop module in a course or REU/SFS training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Send participants to the March 2026 series (virtual)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Co-develop a case study using your datasets or agency partners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Share feedback on the highest-value modules to prioritize packaging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31"/>
          <p:cNvSpPr/>
          <p:nvPr/>
        </p:nvSpPr>
        <p:spPr>
          <a:xfrm>
            <a:off x="548640" y="6611112"/>
            <a:ext cx="9601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Contact: fu@oakland.edu | jdai@wpi.edu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31"/>
          <p:cNvSpPr/>
          <p:nvPr/>
        </p:nvSpPr>
        <p:spPr>
          <a:xfrm>
            <a:off x="773753" y="3821201"/>
            <a:ext cx="10744200" cy="1752600"/>
          </a:xfrm>
          <a:prstGeom prst="rect">
            <a:avLst/>
          </a:prstGeom>
          <a:solidFill>
            <a:srgbClr val="8B6E1F"/>
          </a:solidFill>
          <a:ln cap="flat" cmpd="sng" w="12700">
            <a:solidFill>
              <a:srgbClr val="8B6E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31"/>
          <p:cNvSpPr/>
          <p:nvPr/>
        </p:nvSpPr>
        <p:spPr>
          <a:xfrm>
            <a:off x="1048073" y="4015470"/>
            <a:ext cx="10241400" cy="13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Any opinions, finding, and conclusions or recommendations expressed in this material are those of the author(s) and do no necessarily reflect the views of the National Science Foundation.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ou_monogram_transparent.png" id="686" name="Google Shape;68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75720" y="228600"/>
            <a:ext cx="502920" cy="484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3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u_monogram_transparent.png" id="693" name="Google Shape;69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0" y="274320"/>
            <a:ext cx="548640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32"/>
          <p:cNvSpPr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932E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B8932E"/>
                </a:solidFill>
                <a:latin typeface="Calibri"/>
                <a:ea typeface="Calibri"/>
                <a:cs typeface="Calibri"/>
                <a:sym typeface="Calibri"/>
              </a:rPr>
              <a:t>THE END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32"/>
          <p:cNvSpPr/>
          <p:nvPr/>
        </p:nvSpPr>
        <p:spPr>
          <a:xfrm>
            <a:off x="731520" y="2011680"/>
            <a:ext cx="10972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400"/>
              <a:buFont typeface="Georgia"/>
              <a:buNone/>
            </a:pPr>
            <a:r>
              <a:rPr b="1" lang="en-US" sz="8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Questions?</a:t>
            </a:r>
            <a:endParaRPr sz="8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2"/>
          <p:cNvSpPr/>
          <p:nvPr/>
        </p:nvSpPr>
        <p:spPr>
          <a:xfrm>
            <a:off x="731520" y="3383280"/>
            <a:ext cx="457200" cy="36576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32"/>
          <p:cNvSpPr/>
          <p:nvPr/>
        </p:nvSpPr>
        <p:spPr>
          <a:xfrm>
            <a:off x="731520" y="4663440"/>
            <a:ext cx="3520440" cy="1371600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8B6E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32"/>
          <p:cNvSpPr/>
          <p:nvPr/>
        </p:nvSpPr>
        <p:spPr>
          <a:xfrm>
            <a:off x="731520" y="4663440"/>
            <a:ext cx="3520440" cy="54864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32"/>
          <p:cNvSpPr/>
          <p:nvPr/>
        </p:nvSpPr>
        <p:spPr>
          <a:xfrm>
            <a:off x="960120" y="489204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932E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B8932E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32"/>
          <p:cNvSpPr/>
          <p:nvPr/>
        </p:nvSpPr>
        <p:spPr>
          <a:xfrm>
            <a:off x="960120" y="530352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Try different T and α in distillation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32"/>
          <p:cNvSpPr/>
          <p:nvPr/>
        </p:nvSpPr>
        <p:spPr>
          <a:xfrm>
            <a:off x="4434840" y="4663440"/>
            <a:ext cx="3520440" cy="1371600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8B6E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32"/>
          <p:cNvSpPr/>
          <p:nvPr/>
        </p:nvSpPr>
        <p:spPr>
          <a:xfrm>
            <a:off x="4434840" y="4663440"/>
            <a:ext cx="3520440" cy="54864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32"/>
          <p:cNvSpPr/>
          <p:nvPr/>
        </p:nvSpPr>
        <p:spPr>
          <a:xfrm>
            <a:off x="4663440" y="489204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932E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B8932E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32"/>
          <p:cNvSpPr/>
          <p:nvPr/>
        </p:nvSpPr>
        <p:spPr>
          <a:xfrm>
            <a:off x="4663440" y="530352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Combine pruning + quantization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32"/>
          <p:cNvSpPr/>
          <p:nvPr/>
        </p:nvSpPr>
        <p:spPr>
          <a:xfrm>
            <a:off x="8138160" y="4663440"/>
            <a:ext cx="3520440" cy="1371600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8B6E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32"/>
          <p:cNvSpPr/>
          <p:nvPr/>
        </p:nvSpPr>
        <p:spPr>
          <a:xfrm>
            <a:off x="8138160" y="4663440"/>
            <a:ext cx="3520440" cy="54864"/>
          </a:xfrm>
          <a:prstGeom prst="rect">
            <a:avLst/>
          </a:prstGeom>
          <a:solidFill>
            <a:srgbClr val="B89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32"/>
          <p:cNvSpPr/>
          <p:nvPr/>
        </p:nvSpPr>
        <p:spPr>
          <a:xfrm>
            <a:off x="8366760" y="489204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932E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B8932E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2"/>
          <p:cNvSpPr/>
          <p:nvPr/>
        </p:nvSpPr>
        <p:spPr>
          <a:xfrm>
            <a:off x="8366760" y="530352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Think about your own deployment scenario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2"/>
          <p:cNvSpPr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9588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9C9588"/>
                </a:solidFill>
                <a:latin typeface="Calibri"/>
                <a:ea typeface="Calibri"/>
                <a:cs typeface="Calibri"/>
                <a:sym typeface="Calibri"/>
              </a:rPr>
              <a:t>Module 3.1  ·  Efficient Inference for Edge AI  ·  Oakland University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0" name="Google Shape;710;p32" title="QR post-workshop knowledge check 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26342" y="1555050"/>
            <a:ext cx="1889760" cy="188976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32"/>
          <p:cNvSpPr txBox="1"/>
          <p:nvPr/>
        </p:nvSpPr>
        <p:spPr>
          <a:xfrm>
            <a:off x="7955275" y="3439700"/>
            <a:ext cx="263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EBC97F"/>
                </a:solidFill>
                <a:latin typeface="Calibri"/>
                <a:ea typeface="Calibri"/>
                <a:cs typeface="Calibri"/>
                <a:sym typeface="Calibri"/>
              </a:rPr>
              <a:t>Post-workshop knowledge check</a:t>
            </a:r>
            <a:endParaRPr b="1">
              <a:solidFill>
                <a:srgbClr val="EBC9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" name="Google Shape;716;p33" title="QR survey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51117" y="2286575"/>
            <a:ext cx="1889760" cy="1889760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33"/>
          <p:cNvSpPr txBox="1"/>
          <p:nvPr/>
        </p:nvSpPr>
        <p:spPr>
          <a:xfrm>
            <a:off x="4780050" y="4171225"/>
            <a:ext cx="263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B8932E"/>
                </a:solidFill>
                <a:latin typeface="Calibri"/>
                <a:ea typeface="Calibri"/>
                <a:cs typeface="Calibri"/>
                <a:sym typeface="Calibri"/>
              </a:rPr>
              <a:t>Workshop Survey</a:t>
            </a:r>
            <a:endParaRPr b="1">
              <a:solidFill>
                <a:srgbClr val="B893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